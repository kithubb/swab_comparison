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0" r:id="rId7"/>
    <p:sldId id="262" r:id="rId8"/>
    <p:sldId id="261" r:id="rId9"/>
    <p:sldId id="264" r:id="rId10"/>
    <p:sldId id="265" r:id="rId11"/>
  </p:sldIdLst>
  <p:sldSz cx="9144000" cy="5143500" type="screen16x9"/>
  <p:notesSz cx="10287000" cy="18288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Pretendard" panose="02000503000000020004" pitchFamily="50" charset="-127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80">
          <p15:clr>
            <a:srgbClr val="A4A3A4"/>
          </p15:clr>
        </p15:guide>
        <p15:guide id="2" pos="14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1" roundtripDataSignature="AMtx7mhlfNkVh9kmX7aP9ervfJekY/JN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3D7"/>
    <a:srgbClr val="28B4AA"/>
    <a:srgbClr val="19716B"/>
    <a:srgbClr val="C27606"/>
    <a:srgbClr val="FFFFFF"/>
    <a:srgbClr val="D3736E"/>
    <a:srgbClr val="B7132B"/>
    <a:srgbClr val="A7A9AC"/>
    <a:srgbClr val="9B1B20"/>
    <a:srgbClr val="3F53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77EC35-DC63-4FD0-B777-EF276876572E}">
  <a:tblStyle styleId="{5677EC35-DC63-4FD0-B777-EF27687657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14" autoAdjust="0"/>
    <p:restoredTop sz="86555" autoAdjust="0"/>
  </p:normalViewPr>
  <p:slideViewPr>
    <p:cSldViewPr snapToGrid="0">
      <p:cViewPr varScale="1">
        <p:scale>
          <a:sx n="118" d="100"/>
          <a:sy n="118" d="100"/>
        </p:scale>
        <p:origin x="102" y="324"/>
      </p:cViewPr>
      <p:guideLst>
        <p:guide orient="horz" pos="1080"/>
        <p:guide pos="14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61" Type="http://customschemas.google.com/relationships/presentationmetadata" Target="metadata"/><Relationship Id="rId10" Type="http://schemas.openxmlformats.org/officeDocument/2006/relationships/slide" Target="slides/slide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6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457700" cy="91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827713" y="0"/>
            <a:ext cx="4457700" cy="91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342900" y="2286000"/>
            <a:ext cx="10972800" cy="6172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7372013"/>
            <a:ext cx="4457700" cy="91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:notes"/>
          <p:cNvSpPr txBox="1">
            <a:spLocks noGrp="1"/>
          </p:cNvSpPr>
          <p:nvPr>
            <p:ph type="sldNum" idx="12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제목 슬라이드">
  <p:cSld name="4_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8"/>
          <p:cNvPicPr preferRelativeResize="0"/>
          <p:nvPr/>
        </p:nvPicPr>
        <p:blipFill rotWithShape="1">
          <a:blip r:embed="rId2">
            <a:alphaModFix/>
          </a:blip>
          <a:srcRect b="86608"/>
          <a:stretch/>
        </p:blipFill>
        <p:spPr>
          <a:xfrm>
            <a:off x="3246666" y="4495687"/>
            <a:ext cx="2618069" cy="24776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8"/>
          <p:cNvSpPr/>
          <p:nvPr/>
        </p:nvSpPr>
        <p:spPr>
          <a:xfrm>
            <a:off x="0" y="2478822"/>
            <a:ext cx="9144000" cy="92928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0" b="0" i="0" u="none" strike="noStrike" cap="none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18" name="Google Shape;18;p48"/>
          <p:cNvSpPr/>
          <p:nvPr/>
        </p:nvSpPr>
        <p:spPr>
          <a:xfrm flipH="1">
            <a:off x="-4" y="2478821"/>
            <a:ext cx="295835" cy="92928"/>
          </a:xfrm>
          <a:prstGeom prst="rect">
            <a:avLst/>
          </a:prstGeom>
          <a:solidFill>
            <a:srgbClr val="1C3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0" b="0" i="0" u="none" strike="noStrike" cap="none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19" name="Google Shape;19;p48"/>
          <p:cNvSpPr txBox="1">
            <a:spLocks noGrp="1"/>
          </p:cNvSpPr>
          <p:nvPr>
            <p:ph type="subTitle" idx="1"/>
          </p:nvPr>
        </p:nvSpPr>
        <p:spPr>
          <a:xfrm>
            <a:off x="381000" y="3039035"/>
            <a:ext cx="6858000" cy="80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lvl="3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lvl="6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lvl="7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lvl="8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0" name="Google Shape;20;p48"/>
          <p:cNvSpPr txBox="1">
            <a:spLocks noGrp="1"/>
          </p:cNvSpPr>
          <p:nvPr>
            <p:ph type="ctrTitle"/>
          </p:nvPr>
        </p:nvSpPr>
        <p:spPr>
          <a:xfrm>
            <a:off x="381000" y="1317812"/>
            <a:ext cx="8664388" cy="108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s" preserve="1">
  <p:cSld name="1_conten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22"/>
          <p:cNvPicPr preferRelativeResize="0"/>
          <p:nvPr/>
        </p:nvPicPr>
        <p:blipFill rotWithShape="1">
          <a:blip r:embed="rId2">
            <a:alphaModFix/>
          </a:blip>
          <a:srcRect l="-124" r="20117"/>
          <a:stretch/>
        </p:blipFill>
        <p:spPr>
          <a:xfrm>
            <a:off x="2985325" y="0"/>
            <a:ext cx="61725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2"/>
          <p:cNvSpPr/>
          <p:nvPr/>
        </p:nvSpPr>
        <p:spPr>
          <a:xfrm>
            <a:off x="242421" y="0"/>
            <a:ext cx="674785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2999">
                <a:srgbClr val="FFFFFF"/>
              </a:gs>
              <a:gs pos="77252">
                <a:srgbClr val="FFFFFF">
                  <a:alpha val="69019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2200" tIns="31075" rIns="62200" bIns="31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5"/>
              <a:buFont typeface="Calibri"/>
              <a:buNone/>
            </a:pPr>
            <a:endParaRPr sz="1225" b="0" i="0" u="none" strike="noStrike" cap="none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36" name="Google Shape;36;p122"/>
          <p:cNvSpPr txBox="1">
            <a:spLocks noGrp="1"/>
          </p:cNvSpPr>
          <p:nvPr>
            <p:ph type="title"/>
          </p:nvPr>
        </p:nvSpPr>
        <p:spPr>
          <a:xfrm>
            <a:off x="352926" y="1959759"/>
            <a:ext cx="6055018" cy="547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6AAB"/>
              </a:buClr>
              <a:buSzPts val="4400"/>
              <a:buFont typeface="Arial"/>
              <a:buNone/>
              <a:defRPr sz="2994">
                <a:solidFill>
                  <a:srgbClr val="032C6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2"/>
          <p:cNvSpPr/>
          <p:nvPr/>
        </p:nvSpPr>
        <p:spPr>
          <a:xfrm flipH="1">
            <a:off x="454526" y="1442233"/>
            <a:ext cx="45719" cy="396092"/>
          </a:xfrm>
          <a:prstGeom prst="rect">
            <a:avLst/>
          </a:prstGeom>
          <a:solidFill>
            <a:srgbClr val="1C3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3371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제목 및 내용" preserve="1" userDrawn="1">
  <p:cSld name="4_제목 및 내용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3"/>
          <p:cNvSpPr txBox="1">
            <a:spLocks noGrp="1"/>
          </p:cNvSpPr>
          <p:nvPr>
            <p:ph type="body" idx="3"/>
          </p:nvPr>
        </p:nvSpPr>
        <p:spPr>
          <a:xfrm>
            <a:off x="228600" y="886374"/>
            <a:ext cx="8686800" cy="397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42F2"/>
              </a:buClr>
              <a:buSzPts val="1800"/>
              <a:buNone/>
              <a:defRPr sz="1800">
                <a:solidFill>
                  <a:srgbClr val="1C33D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1" name="Google Shape;45;p53">
            <a:extLst>
              <a:ext uri="{FF2B5EF4-FFF2-40B4-BE49-F238E27FC236}">
                <a16:creationId xmlns:a16="http://schemas.microsoft.com/office/drawing/2014/main" id="{1C9D1BA1-FFB8-496B-BEF1-C1A73539146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52489" y="309630"/>
            <a:ext cx="8062912" cy="44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2" name="Google Shape;45;p53">
            <a:extLst>
              <a:ext uri="{FF2B5EF4-FFF2-40B4-BE49-F238E27FC236}">
                <a16:creationId xmlns:a16="http://schemas.microsoft.com/office/drawing/2014/main" id="{B73EF395-37C0-41FB-9B33-AF6CD758C3AB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28601" y="0"/>
            <a:ext cx="5426074" cy="25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05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40FD6F1-9C4D-4391-B67E-9FBFB0185301}"/>
              </a:ext>
            </a:extLst>
          </p:cNvPr>
          <p:cNvCxnSpPr>
            <a:cxnSpLocks/>
          </p:cNvCxnSpPr>
          <p:nvPr userDrawn="1"/>
        </p:nvCxnSpPr>
        <p:spPr>
          <a:xfrm>
            <a:off x="228600" y="819413"/>
            <a:ext cx="8915400" cy="0"/>
          </a:xfrm>
          <a:prstGeom prst="line">
            <a:avLst/>
          </a:prstGeom>
          <a:ln w="127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7D3D75B-7D80-4124-90C2-51013362398E}"/>
              </a:ext>
            </a:extLst>
          </p:cNvPr>
          <p:cNvCxnSpPr>
            <a:cxnSpLocks/>
          </p:cNvCxnSpPr>
          <p:nvPr userDrawn="1"/>
        </p:nvCxnSpPr>
        <p:spPr>
          <a:xfrm>
            <a:off x="228600" y="819413"/>
            <a:ext cx="557214" cy="0"/>
          </a:xfrm>
          <a:prstGeom prst="line">
            <a:avLst/>
          </a:prstGeom>
          <a:ln w="19050" cap="rnd">
            <a:solidFill>
              <a:srgbClr val="1C33D7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45;p53">
            <a:extLst>
              <a:ext uri="{FF2B5EF4-FFF2-40B4-BE49-F238E27FC236}">
                <a16:creationId xmlns:a16="http://schemas.microsoft.com/office/drawing/2014/main" id="{8E224373-46FB-4A4A-BF1C-839D40E5CF1F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228602" y="309630"/>
            <a:ext cx="557212" cy="442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 altLang="ko-KR" dirty="0"/>
              <a:t>01</a:t>
            </a:r>
            <a:endParaRPr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B9A4DDD-2C73-4F5E-8876-AFAEE3E869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600" y="1350755"/>
            <a:ext cx="8686800" cy="3499152"/>
          </a:xfrm>
        </p:spPr>
        <p:txBody>
          <a:bodyPr>
            <a:normAutofit/>
          </a:bodyPr>
          <a:lstStyle>
            <a:lvl1pPr marL="457200" indent="-317500">
              <a:buClr>
                <a:srgbClr val="1C33D7"/>
              </a:buClr>
              <a:buFont typeface="Wingdings" panose="05000000000000000000" pitchFamily="2" charset="2"/>
              <a:buChar char="§"/>
              <a:defRPr sz="1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indent="-304800">
              <a:buClr>
                <a:srgbClr val="1C33D7"/>
              </a:buClr>
              <a:buSzPct val="80000"/>
              <a:buFont typeface="Wingdings" panose="05000000000000000000" pitchFamily="2" charset="2"/>
              <a:buChar char="ü"/>
              <a:defRPr sz="1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1371600" indent="-292100">
              <a:buClr>
                <a:srgbClr val="1C33D7"/>
              </a:buClr>
              <a:buFont typeface="Pretendard" panose="02000503000000020004" pitchFamily="50" charset="-127"/>
              <a:buChar char="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828800" indent="-285750">
              <a:buClr>
                <a:srgbClr val="A7A9AC"/>
              </a:buClr>
              <a:buSzPct val="100000"/>
              <a:buFont typeface="Pretendard" panose="02000503000000020004" pitchFamily="50" charset="-127"/>
              <a:buChar char="−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 marL="2286000" indent="-285750">
              <a:buClr>
                <a:srgbClr val="A7A9AC"/>
              </a:buClr>
              <a:buSzPct val="100000"/>
              <a:buFont typeface="Pretendard" panose="02000503000000020004" pitchFamily="50" charset="-127"/>
              <a:buChar char="−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778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제목 및 내용" preserve="1" userDrawn="1">
  <p:cSld name="4_제목 및 내용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40FD6F1-9C4D-4391-B67E-9FBFB0185301}"/>
              </a:ext>
            </a:extLst>
          </p:cNvPr>
          <p:cNvCxnSpPr>
            <a:cxnSpLocks/>
          </p:cNvCxnSpPr>
          <p:nvPr userDrawn="1"/>
        </p:nvCxnSpPr>
        <p:spPr>
          <a:xfrm>
            <a:off x="228600" y="819413"/>
            <a:ext cx="8915400" cy="0"/>
          </a:xfrm>
          <a:prstGeom prst="line">
            <a:avLst/>
          </a:prstGeom>
          <a:ln w="127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45;p53">
            <a:extLst>
              <a:ext uri="{FF2B5EF4-FFF2-40B4-BE49-F238E27FC236}">
                <a16:creationId xmlns:a16="http://schemas.microsoft.com/office/drawing/2014/main" id="{D2478373-F71F-BE36-909E-B58EC9F46D7B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228602" y="309630"/>
            <a:ext cx="557212" cy="442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 altLang="ko-KR" dirty="0"/>
              <a:t>01</a:t>
            </a:r>
            <a:endParaRPr dirty="0"/>
          </a:p>
        </p:txBody>
      </p:sp>
      <p:sp>
        <p:nvSpPr>
          <p:cNvPr id="3" name="Google Shape;45;p53">
            <a:extLst>
              <a:ext uri="{FF2B5EF4-FFF2-40B4-BE49-F238E27FC236}">
                <a16:creationId xmlns:a16="http://schemas.microsoft.com/office/drawing/2014/main" id="{1D53C091-B499-8EF9-3098-3941891BC655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28601" y="0"/>
            <a:ext cx="5426074" cy="25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05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" name="Google Shape;45;p53">
            <a:extLst>
              <a:ext uri="{FF2B5EF4-FFF2-40B4-BE49-F238E27FC236}">
                <a16:creationId xmlns:a16="http://schemas.microsoft.com/office/drawing/2014/main" id="{502B85E3-9C24-9E94-1C2C-A8334653566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52489" y="309630"/>
            <a:ext cx="8062912" cy="44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46;p53">
            <a:extLst>
              <a:ext uri="{FF2B5EF4-FFF2-40B4-BE49-F238E27FC236}">
                <a16:creationId xmlns:a16="http://schemas.microsoft.com/office/drawing/2014/main" id="{27C425B0-22C8-6E1F-8BCA-C6272FD6F4BF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228600" y="888855"/>
            <a:ext cx="8686800" cy="397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42F2"/>
              </a:buClr>
              <a:buSzPts val="1800"/>
              <a:buNone/>
              <a:defRPr sz="1800">
                <a:solidFill>
                  <a:srgbClr val="1C33D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4EE75CA-3987-448F-95D3-6AFF67E040AC}"/>
              </a:ext>
            </a:extLst>
          </p:cNvPr>
          <p:cNvCxnSpPr>
            <a:cxnSpLocks/>
          </p:cNvCxnSpPr>
          <p:nvPr userDrawn="1"/>
        </p:nvCxnSpPr>
        <p:spPr>
          <a:xfrm>
            <a:off x="228600" y="819413"/>
            <a:ext cx="557214" cy="0"/>
          </a:xfrm>
          <a:prstGeom prst="line">
            <a:avLst/>
          </a:prstGeom>
          <a:ln w="19050" cap="rnd">
            <a:solidFill>
              <a:srgbClr val="1C33D7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867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제목 및 내용" preserve="1" userDrawn="1">
  <p:cSld name="4_제목 및 내용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C8F25AD-C5E0-4951-AA62-6D5E90444275}"/>
              </a:ext>
            </a:extLst>
          </p:cNvPr>
          <p:cNvCxnSpPr>
            <a:cxnSpLocks/>
          </p:cNvCxnSpPr>
          <p:nvPr userDrawn="1"/>
        </p:nvCxnSpPr>
        <p:spPr>
          <a:xfrm>
            <a:off x="228600" y="819413"/>
            <a:ext cx="8915400" cy="0"/>
          </a:xfrm>
          <a:prstGeom prst="line">
            <a:avLst/>
          </a:prstGeom>
          <a:ln w="127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B7DAC3B-5F07-45C4-B026-AFAAAF271D10}"/>
              </a:ext>
            </a:extLst>
          </p:cNvPr>
          <p:cNvCxnSpPr>
            <a:cxnSpLocks/>
          </p:cNvCxnSpPr>
          <p:nvPr userDrawn="1"/>
        </p:nvCxnSpPr>
        <p:spPr>
          <a:xfrm>
            <a:off x="228600" y="819413"/>
            <a:ext cx="557214" cy="0"/>
          </a:xfrm>
          <a:prstGeom prst="line">
            <a:avLst/>
          </a:prstGeom>
          <a:ln w="19050" cap="rnd">
            <a:solidFill>
              <a:srgbClr val="1C33D7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45;p53">
            <a:extLst>
              <a:ext uri="{FF2B5EF4-FFF2-40B4-BE49-F238E27FC236}">
                <a16:creationId xmlns:a16="http://schemas.microsoft.com/office/drawing/2014/main" id="{86A21064-A5BA-7C63-7040-4B88065F4B14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228602" y="309630"/>
            <a:ext cx="557212" cy="442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 altLang="ko-KR" dirty="0"/>
              <a:t>01</a:t>
            </a:r>
            <a:endParaRPr dirty="0"/>
          </a:p>
        </p:txBody>
      </p:sp>
      <p:sp>
        <p:nvSpPr>
          <p:cNvPr id="7" name="Google Shape;45;p53">
            <a:extLst>
              <a:ext uri="{FF2B5EF4-FFF2-40B4-BE49-F238E27FC236}">
                <a16:creationId xmlns:a16="http://schemas.microsoft.com/office/drawing/2014/main" id="{75005191-45E5-90D0-E781-B38141FEE62B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28601" y="0"/>
            <a:ext cx="5426074" cy="25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05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45;p53">
            <a:extLst>
              <a:ext uri="{FF2B5EF4-FFF2-40B4-BE49-F238E27FC236}">
                <a16:creationId xmlns:a16="http://schemas.microsoft.com/office/drawing/2014/main" id="{A42F1763-1822-6C1F-E2B6-B7C69394165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52489" y="309630"/>
            <a:ext cx="8062912" cy="44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0801DA4-C374-0092-D74B-B611B22EA4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600" y="886375"/>
            <a:ext cx="8686800" cy="3963532"/>
          </a:xfrm>
        </p:spPr>
        <p:txBody>
          <a:bodyPr>
            <a:normAutofit/>
          </a:bodyPr>
          <a:lstStyle>
            <a:lvl1pPr marL="457200" indent="-317500">
              <a:buClr>
                <a:srgbClr val="1C33D7"/>
              </a:buClr>
              <a:buFont typeface="Wingdings" panose="05000000000000000000" pitchFamily="2" charset="2"/>
              <a:buChar char="§"/>
              <a:defRPr sz="1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indent="-304800">
              <a:buClr>
                <a:srgbClr val="1C33D7"/>
              </a:buClr>
              <a:buSzPct val="80000"/>
              <a:buFont typeface="Wingdings" panose="05000000000000000000" pitchFamily="2" charset="2"/>
              <a:buChar char="ü"/>
              <a:defRPr sz="1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1371600" indent="-292100">
              <a:buClr>
                <a:srgbClr val="1C33D7"/>
              </a:buClr>
              <a:buFont typeface="Pretendard" panose="02000503000000020004" pitchFamily="50" charset="-127"/>
              <a:buChar char="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828800" indent="-285750">
              <a:buClr>
                <a:srgbClr val="A7A9AC"/>
              </a:buClr>
              <a:buSzPct val="100000"/>
              <a:buFont typeface="Pretendard" panose="02000503000000020004" pitchFamily="50" charset="-127"/>
              <a:buChar char="−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 marL="2286000" indent="-285750">
              <a:buClr>
                <a:srgbClr val="A7A9AC"/>
              </a:buClr>
              <a:buSzPct val="100000"/>
              <a:buFont typeface="Pretendard" panose="02000503000000020004" pitchFamily="50" charset="-127"/>
              <a:buChar char="−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59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제목 및 내용" preserve="1" userDrawn="1">
  <p:cSld name="4_제목 및 내용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C8F25AD-C5E0-4951-AA62-6D5E90444275}"/>
              </a:ext>
            </a:extLst>
          </p:cNvPr>
          <p:cNvCxnSpPr>
            <a:cxnSpLocks/>
          </p:cNvCxnSpPr>
          <p:nvPr userDrawn="1"/>
        </p:nvCxnSpPr>
        <p:spPr>
          <a:xfrm>
            <a:off x="228600" y="819413"/>
            <a:ext cx="8915400" cy="0"/>
          </a:xfrm>
          <a:prstGeom prst="line">
            <a:avLst/>
          </a:prstGeom>
          <a:ln w="127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B7DAC3B-5F07-45C4-B026-AFAAAF271D10}"/>
              </a:ext>
            </a:extLst>
          </p:cNvPr>
          <p:cNvCxnSpPr>
            <a:cxnSpLocks/>
          </p:cNvCxnSpPr>
          <p:nvPr userDrawn="1"/>
        </p:nvCxnSpPr>
        <p:spPr>
          <a:xfrm>
            <a:off x="228600" y="819413"/>
            <a:ext cx="557214" cy="0"/>
          </a:xfrm>
          <a:prstGeom prst="line">
            <a:avLst/>
          </a:prstGeom>
          <a:ln w="19050" cap="rnd">
            <a:solidFill>
              <a:srgbClr val="1C33D7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45;p53">
            <a:extLst>
              <a:ext uri="{FF2B5EF4-FFF2-40B4-BE49-F238E27FC236}">
                <a16:creationId xmlns:a16="http://schemas.microsoft.com/office/drawing/2014/main" id="{86A21064-A5BA-7C63-7040-4B88065F4B14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228602" y="309630"/>
            <a:ext cx="557212" cy="442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 altLang="ko-KR" dirty="0"/>
              <a:t>01</a:t>
            </a:r>
            <a:endParaRPr dirty="0"/>
          </a:p>
        </p:txBody>
      </p:sp>
      <p:sp>
        <p:nvSpPr>
          <p:cNvPr id="7" name="Google Shape;45;p53">
            <a:extLst>
              <a:ext uri="{FF2B5EF4-FFF2-40B4-BE49-F238E27FC236}">
                <a16:creationId xmlns:a16="http://schemas.microsoft.com/office/drawing/2014/main" id="{75005191-45E5-90D0-E781-B38141FEE62B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28601" y="0"/>
            <a:ext cx="5426074" cy="25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05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45;p53">
            <a:extLst>
              <a:ext uri="{FF2B5EF4-FFF2-40B4-BE49-F238E27FC236}">
                <a16:creationId xmlns:a16="http://schemas.microsoft.com/office/drawing/2014/main" id="{A42F1763-1822-6C1F-E2B6-B7C69394165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52489" y="309630"/>
            <a:ext cx="8062912" cy="44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0801DA4-C374-0092-D74B-B611B22EA4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600" y="886375"/>
            <a:ext cx="4264742" cy="3963532"/>
          </a:xfrm>
        </p:spPr>
        <p:txBody>
          <a:bodyPr>
            <a:normAutofit/>
          </a:bodyPr>
          <a:lstStyle>
            <a:lvl1pPr marL="457200" indent="-317500">
              <a:buClr>
                <a:srgbClr val="1C33D7"/>
              </a:buClr>
              <a:buFont typeface="Wingdings" panose="05000000000000000000" pitchFamily="2" charset="2"/>
              <a:buChar char="§"/>
              <a:defRPr sz="1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indent="-304800">
              <a:buClr>
                <a:srgbClr val="1C33D7"/>
              </a:buClr>
              <a:buSzPct val="80000"/>
              <a:buFont typeface="Wingdings" panose="05000000000000000000" pitchFamily="2" charset="2"/>
              <a:buChar char="ü"/>
              <a:defRPr sz="1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1371600" indent="-292100">
              <a:buClr>
                <a:srgbClr val="1C33D7"/>
              </a:buClr>
              <a:buFont typeface="Pretendard" panose="02000503000000020004" pitchFamily="50" charset="-127"/>
              <a:buChar char="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828800" indent="-285750">
              <a:buClr>
                <a:srgbClr val="A7A9AC"/>
              </a:buClr>
              <a:buSzPct val="100000"/>
              <a:buFont typeface="Pretendard" panose="02000503000000020004" pitchFamily="50" charset="-127"/>
              <a:buChar char="−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 marL="2286000" indent="-285750">
              <a:buClr>
                <a:srgbClr val="A7A9AC"/>
              </a:buClr>
              <a:buSzPct val="100000"/>
              <a:buFont typeface="Pretendard" panose="02000503000000020004" pitchFamily="50" charset="-127"/>
              <a:buChar char="−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51397CC-EBCD-4356-B789-3536B9336FE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56803" y="886375"/>
            <a:ext cx="4264742" cy="3963532"/>
          </a:xfrm>
        </p:spPr>
        <p:txBody>
          <a:bodyPr>
            <a:normAutofit/>
          </a:bodyPr>
          <a:lstStyle>
            <a:lvl1pPr marL="457200" indent="-317500">
              <a:buClr>
                <a:srgbClr val="1C33D7"/>
              </a:buClr>
              <a:buFont typeface="Wingdings" panose="05000000000000000000" pitchFamily="2" charset="2"/>
              <a:buChar char="§"/>
              <a:defRPr sz="1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indent="-304800">
              <a:buClr>
                <a:srgbClr val="1C33D7"/>
              </a:buClr>
              <a:buSzPct val="80000"/>
              <a:buFont typeface="Wingdings" panose="05000000000000000000" pitchFamily="2" charset="2"/>
              <a:buChar char="ü"/>
              <a:defRPr sz="1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1371600" indent="-292100">
              <a:buClr>
                <a:srgbClr val="1C33D7"/>
              </a:buClr>
              <a:buFont typeface="Pretendard" panose="02000503000000020004" pitchFamily="50" charset="-127"/>
              <a:buChar char="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828800" indent="-285750">
              <a:buClr>
                <a:srgbClr val="A7A9AC"/>
              </a:buClr>
              <a:buSzPct val="100000"/>
              <a:buFont typeface="Pretendard" panose="02000503000000020004" pitchFamily="50" charset="-127"/>
              <a:buChar char="−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 marL="2286000" indent="-285750">
              <a:buClr>
                <a:srgbClr val="A7A9AC"/>
              </a:buClr>
              <a:buSzPct val="100000"/>
              <a:buFont typeface="Pretendard" panose="02000503000000020004" pitchFamily="50" charset="-127"/>
              <a:buChar char="−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046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제목 및 내용" preserve="1" userDrawn="1">
  <p:cSld name="4_제목 및 내용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C8F25AD-C5E0-4951-AA62-6D5E90444275}"/>
              </a:ext>
            </a:extLst>
          </p:cNvPr>
          <p:cNvCxnSpPr>
            <a:cxnSpLocks/>
          </p:cNvCxnSpPr>
          <p:nvPr userDrawn="1"/>
        </p:nvCxnSpPr>
        <p:spPr>
          <a:xfrm>
            <a:off x="228600" y="819413"/>
            <a:ext cx="8915400" cy="0"/>
          </a:xfrm>
          <a:prstGeom prst="line">
            <a:avLst/>
          </a:prstGeom>
          <a:ln w="127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B7DAC3B-5F07-45C4-B026-AFAAAF271D10}"/>
              </a:ext>
            </a:extLst>
          </p:cNvPr>
          <p:cNvCxnSpPr>
            <a:cxnSpLocks/>
          </p:cNvCxnSpPr>
          <p:nvPr userDrawn="1"/>
        </p:nvCxnSpPr>
        <p:spPr>
          <a:xfrm>
            <a:off x="228600" y="819413"/>
            <a:ext cx="557214" cy="0"/>
          </a:xfrm>
          <a:prstGeom prst="line">
            <a:avLst/>
          </a:prstGeom>
          <a:ln w="19050" cap="rnd">
            <a:solidFill>
              <a:srgbClr val="1C33D7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45;p53">
            <a:extLst>
              <a:ext uri="{FF2B5EF4-FFF2-40B4-BE49-F238E27FC236}">
                <a16:creationId xmlns:a16="http://schemas.microsoft.com/office/drawing/2014/main" id="{86A21064-A5BA-7C63-7040-4B88065F4B14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228602" y="309630"/>
            <a:ext cx="557212" cy="442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 altLang="ko-KR" dirty="0"/>
              <a:t>01</a:t>
            </a:r>
            <a:endParaRPr dirty="0"/>
          </a:p>
        </p:txBody>
      </p:sp>
      <p:sp>
        <p:nvSpPr>
          <p:cNvPr id="7" name="Google Shape;45;p53">
            <a:extLst>
              <a:ext uri="{FF2B5EF4-FFF2-40B4-BE49-F238E27FC236}">
                <a16:creationId xmlns:a16="http://schemas.microsoft.com/office/drawing/2014/main" id="{75005191-45E5-90D0-E781-B38141FEE62B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28601" y="0"/>
            <a:ext cx="5426074" cy="25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05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45;p53">
            <a:extLst>
              <a:ext uri="{FF2B5EF4-FFF2-40B4-BE49-F238E27FC236}">
                <a16:creationId xmlns:a16="http://schemas.microsoft.com/office/drawing/2014/main" id="{A42F1763-1822-6C1F-E2B6-B7C69394165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52489" y="309630"/>
            <a:ext cx="8062912" cy="44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0801DA4-C374-0092-D74B-B611B22EA4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600" y="1314582"/>
            <a:ext cx="4264742" cy="3535325"/>
          </a:xfrm>
        </p:spPr>
        <p:txBody>
          <a:bodyPr>
            <a:normAutofit/>
          </a:bodyPr>
          <a:lstStyle>
            <a:lvl1pPr marL="457200" indent="-317500">
              <a:buClr>
                <a:srgbClr val="1C33D7"/>
              </a:buClr>
              <a:buFont typeface="Wingdings" panose="05000000000000000000" pitchFamily="2" charset="2"/>
              <a:buChar char="§"/>
              <a:defRPr sz="1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indent="-304800">
              <a:buClr>
                <a:srgbClr val="1C33D7"/>
              </a:buClr>
              <a:buSzPct val="80000"/>
              <a:buFont typeface="Wingdings" panose="05000000000000000000" pitchFamily="2" charset="2"/>
              <a:buChar char="ü"/>
              <a:defRPr sz="1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1371600" indent="-292100">
              <a:buClr>
                <a:srgbClr val="1C33D7"/>
              </a:buClr>
              <a:buFont typeface="Pretendard" panose="02000503000000020004" pitchFamily="50" charset="-127"/>
              <a:buChar char="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828800" indent="-285750">
              <a:buClr>
                <a:srgbClr val="A7A9AC"/>
              </a:buClr>
              <a:buSzPct val="100000"/>
              <a:buFont typeface="Pretendard" panose="02000503000000020004" pitchFamily="50" charset="-127"/>
              <a:buChar char="−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 marL="2286000" indent="-285750">
              <a:buClr>
                <a:srgbClr val="A7A9AC"/>
              </a:buClr>
              <a:buSzPct val="100000"/>
              <a:buFont typeface="Pretendard" panose="02000503000000020004" pitchFamily="50" charset="-127"/>
              <a:buChar char="−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51397CC-EBCD-4356-B789-3536B9336FE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56803" y="1314582"/>
            <a:ext cx="4264742" cy="3535325"/>
          </a:xfrm>
        </p:spPr>
        <p:txBody>
          <a:bodyPr>
            <a:normAutofit/>
          </a:bodyPr>
          <a:lstStyle>
            <a:lvl1pPr marL="457200" indent="-317500">
              <a:buClr>
                <a:srgbClr val="1C33D7"/>
              </a:buClr>
              <a:buFont typeface="Wingdings" panose="05000000000000000000" pitchFamily="2" charset="2"/>
              <a:buChar char="§"/>
              <a:defRPr sz="1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indent="-304800">
              <a:buClr>
                <a:srgbClr val="1C33D7"/>
              </a:buClr>
              <a:buSzPct val="80000"/>
              <a:buFont typeface="Wingdings" panose="05000000000000000000" pitchFamily="2" charset="2"/>
              <a:buChar char="ü"/>
              <a:defRPr sz="1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1371600" indent="-292100">
              <a:buClr>
                <a:srgbClr val="1C33D7"/>
              </a:buClr>
              <a:buFont typeface="Pretendard" panose="02000503000000020004" pitchFamily="50" charset="-127"/>
              <a:buChar char="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828800" indent="-285750">
              <a:buClr>
                <a:srgbClr val="A7A9AC"/>
              </a:buClr>
              <a:buSzPct val="100000"/>
              <a:buFont typeface="Pretendard" panose="02000503000000020004" pitchFamily="50" charset="-127"/>
              <a:buChar char="−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 marL="2286000" indent="-285750">
              <a:buClr>
                <a:srgbClr val="A7A9AC"/>
              </a:buClr>
              <a:buSzPct val="100000"/>
              <a:buFont typeface="Pretendard" panose="02000503000000020004" pitchFamily="50" charset="-127"/>
              <a:buChar char="−"/>
              <a:defRPr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2" name="Google Shape;46;p53">
            <a:extLst>
              <a:ext uri="{FF2B5EF4-FFF2-40B4-BE49-F238E27FC236}">
                <a16:creationId xmlns:a16="http://schemas.microsoft.com/office/drawing/2014/main" id="{E72317DA-EFCD-4EDC-BD70-72149DF59CD0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228600" y="888856"/>
            <a:ext cx="4264742" cy="358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42F2"/>
              </a:buClr>
              <a:buSzPts val="1800"/>
              <a:buNone/>
              <a:defRPr sz="1400">
                <a:solidFill>
                  <a:srgbClr val="1C33D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46;p53">
            <a:extLst>
              <a:ext uri="{FF2B5EF4-FFF2-40B4-BE49-F238E27FC236}">
                <a16:creationId xmlns:a16="http://schemas.microsoft.com/office/drawing/2014/main" id="{1A8DA244-9AB4-45B7-B21C-4BE6E2B6DA3A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4650658" y="888856"/>
            <a:ext cx="4264742" cy="358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42F2"/>
              </a:buClr>
              <a:buSzPts val="1800"/>
              <a:buNone/>
              <a:defRPr sz="1400">
                <a:solidFill>
                  <a:srgbClr val="1C33D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4276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8575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8575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8575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13" name="Google Shape;13;p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14" name="Google Shape;14;p4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7" r:id="rId3"/>
    <p:sldLayoutId id="2147483659" r:id="rId4"/>
    <p:sldLayoutId id="2147483658" r:id="rId5"/>
    <p:sldLayoutId id="2147483662" r:id="rId6"/>
    <p:sldLayoutId id="214748366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>
            <a:spLocks noGrp="1"/>
          </p:cNvSpPr>
          <p:nvPr>
            <p:ph type="subTitle" idx="1"/>
          </p:nvPr>
        </p:nvSpPr>
        <p:spPr>
          <a:xfrm>
            <a:off x="2515719" y="3331361"/>
            <a:ext cx="4419600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/>
            <a:r>
              <a:rPr lang="ko-KR" altLang="en-US">
                <a:solidFill>
                  <a:schemeClr val="tx1"/>
                </a:solidFill>
              </a:rPr>
              <a:t>김소연 </a:t>
            </a:r>
            <a:endParaRPr lang="en-US">
              <a:solidFill>
                <a:schemeClr val="tx1"/>
              </a:solidFill>
            </a:endParaRPr>
          </a:p>
          <a:p>
            <a:pPr marL="0" indent="0" algn="ctr"/>
            <a:r>
              <a:rPr lang="ko-KR" altLang="en-US">
                <a:solidFill>
                  <a:schemeClr val="tx1"/>
                </a:solidFill>
              </a:rPr>
              <a:t>피부마이크로바이옴 연구실 </a:t>
            </a:r>
            <a:endParaRPr lang="en-US" altLang="ko-KR">
              <a:solidFill>
                <a:schemeClr val="tx1"/>
              </a:solidFill>
            </a:endParaRPr>
          </a:p>
          <a:p>
            <a:pPr marL="0" indent="0" algn="ctr"/>
            <a:r>
              <a:rPr lang="en-US">
                <a:solidFill>
                  <a:schemeClr val="tx1"/>
                </a:solidFill>
              </a:rPr>
              <a:t>202</a:t>
            </a:r>
            <a:r>
              <a:rPr lang="en-US" altLang="ko-KR">
                <a:solidFill>
                  <a:schemeClr val="tx1"/>
                </a:solidFill>
              </a:rPr>
              <a:t>6</a:t>
            </a:r>
            <a:r>
              <a:rPr lang="en-US">
                <a:solidFill>
                  <a:schemeClr val="tx1"/>
                </a:solidFill>
              </a:rPr>
              <a:t>/0</a:t>
            </a:r>
            <a:r>
              <a:rPr lang="en-US" altLang="ko-KR">
                <a:solidFill>
                  <a:schemeClr val="tx1"/>
                </a:solidFill>
              </a:rPr>
              <a:t>8</a:t>
            </a:r>
            <a:r>
              <a:rPr lang="en-US">
                <a:solidFill>
                  <a:schemeClr val="tx1"/>
                </a:solidFill>
              </a:rPr>
              <a:t>/</a:t>
            </a:r>
            <a:r>
              <a:rPr lang="en-US" altLang="ko-KR">
                <a:solidFill>
                  <a:schemeClr val="tx1"/>
                </a:solidFill>
              </a:rPr>
              <a:t>24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Google Shape;67;p1"/>
          <p:cNvSpPr txBox="1">
            <a:spLocks noGrp="1"/>
          </p:cNvSpPr>
          <p:nvPr>
            <p:ph type="ctrTitle"/>
          </p:nvPr>
        </p:nvSpPr>
        <p:spPr>
          <a:xfrm>
            <a:off x="307040" y="570714"/>
            <a:ext cx="8836959" cy="178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altLang="ko-KR" sz="3200">
                <a:solidFill>
                  <a:srgbClr val="1C33D7"/>
                </a:solidFill>
              </a:rPr>
              <a:t>DT Swab </a:t>
            </a:r>
            <a:r>
              <a:rPr lang="ko-KR" altLang="en-US" sz="3200">
                <a:solidFill>
                  <a:schemeClr val="tx1"/>
                </a:solidFill>
              </a:rPr>
              <a:t>재분석 결과 보고</a:t>
            </a:r>
            <a:endParaRPr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altLang="ko-KR"/>
              <a:t>01</a:t>
            </a:r>
            <a:endParaRPr 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altLang="ko-KR"/>
              <a:t>01/  </a:t>
            </a:r>
            <a:r>
              <a:rPr lang="ko-KR" altLang="en-US"/>
              <a:t>기존 논문</a:t>
            </a:r>
            <a:endParaRPr 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ko-KR" altLang="en-US"/>
              <a:t>연구 질문과 목적</a:t>
            </a:r>
            <a:endParaRPr 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b="1"/>
              <a:t>기존 논문의 목적 </a:t>
            </a:r>
            <a:endParaRPr lang="en-US" altLang="ko-KR" b="1"/>
          </a:p>
          <a:p>
            <a:pPr lvl="1"/>
            <a:r>
              <a:rPr lang="ko-KR" altLang="en-US"/>
              <a:t>동일한 </a:t>
            </a:r>
            <a:r>
              <a:rPr lang="en-US"/>
              <a:t>participant</a:t>
            </a:r>
            <a:r>
              <a:rPr lang="ko-KR" altLang="en-US"/>
              <a:t>의 </a:t>
            </a:r>
            <a:r>
              <a:rPr lang="en-US"/>
              <a:t>antecubital fossa</a:t>
            </a:r>
            <a:r>
              <a:rPr lang="ko-KR" altLang="en-US"/>
              <a:t>와 </a:t>
            </a:r>
            <a:r>
              <a:rPr lang="en-US"/>
              <a:t>forehead</a:t>
            </a:r>
            <a:r>
              <a:rPr lang="ko-KR" altLang="en-US"/>
              <a:t>에서 </a:t>
            </a:r>
            <a:r>
              <a:rPr lang="en-US" altLang="ko-KR"/>
              <a:t>5</a:t>
            </a:r>
            <a:r>
              <a:rPr lang="ko-KR" altLang="en-US"/>
              <a:t>개 </a:t>
            </a:r>
            <a:r>
              <a:rPr lang="en-US"/>
              <a:t>sampling  system </a:t>
            </a:r>
            <a:r>
              <a:rPr lang="ko-KR" altLang="en-US"/>
              <a:t>비교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 b="1"/>
              <a:t>실험 디자인 </a:t>
            </a:r>
            <a:endParaRPr lang="en-US" altLang="ko-KR" b="1"/>
          </a:p>
          <a:p>
            <a:pPr lvl="1"/>
            <a:r>
              <a:rPr lang="en-US" altLang="ko-KR"/>
              <a:t>5</a:t>
            </a:r>
            <a:r>
              <a:rPr lang="ko-KR" altLang="en-US"/>
              <a:t>명의 </a:t>
            </a:r>
            <a:r>
              <a:rPr lang="en-US" altLang="ko-KR"/>
              <a:t>(</a:t>
            </a:r>
            <a:r>
              <a:rPr lang="ko-KR" altLang="en-US"/>
              <a:t>건강인</a:t>
            </a:r>
            <a:r>
              <a:rPr lang="en-US" altLang="ko-KR"/>
              <a:t>) </a:t>
            </a:r>
            <a:r>
              <a:rPr lang="ko-KR" altLang="en-US"/>
              <a:t>대상자의 </a:t>
            </a:r>
            <a:r>
              <a:rPr lang="en-US" altLang="ko-KR"/>
              <a:t>Sebaceous (Forehead)/ Dry (Antecubital fossa) </a:t>
            </a:r>
            <a:r>
              <a:rPr lang="ko-KR" altLang="en-US"/>
              <a:t>부위를 기반으로 </a:t>
            </a:r>
            <a:r>
              <a:rPr lang="en-US" altLang="ko-KR"/>
              <a:t>5</a:t>
            </a:r>
            <a:r>
              <a:rPr lang="ko-KR" altLang="en-US"/>
              <a:t>개의 샘플 추출 방법 비교 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 b="1"/>
              <a:t>샘플 추출 방법 </a:t>
            </a:r>
            <a:endParaRPr lang="en-US" altLang="ko-KR" b="1"/>
          </a:p>
          <a:p>
            <a:pPr lvl="1"/>
            <a:r>
              <a:rPr lang="en-US" altLang="ko-KR"/>
              <a:t>1. Copan + Gell</a:t>
            </a:r>
          </a:p>
          <a:p>
            <a:pPr lvl="1"/>
            <a:r>
              <a:rPr lang="en-US" altLang="ko-KR"/>
              <a:t>2. Puritan + Gell</a:t>
            </a:r>
          </a:p>
          <a:p>
            <a:pPr lvl="1"/>
            <a:r>
              <a:rPr lang="en-US" altLang="ko-KR"/>
              <a:t>3. Puritan + Buffer </a:t>
            </a:r>
          </a:p>
          <a:p>
            <a:pPr lvl="1"/>
            <a:r>
              <a:rPr lang="en-US" altLang="ko-KR"/>
              <a:t>4. Omni + SDS</a:t>
            </a:r>
          </a:p>
          <a:p>
            <a:pPr lvl="1"/>
            <a:r>
              <a:rPr lang="en-US" altLang="ko-KR"/>
              <a:t>5. E-Swab + Transport Medium </a:t>
            </a:r>
          </a:p>
          <a:p>
            <a:pPr lvl="1"/>
            <a:endParaRPr lang="en-US" altLang="ko-KR"/>
          </a:p>
          <a:p>
            <a:r>
              <a:rPr lang="ko-KR" altLang="en-US" b="1"/>
              <a:t>공통 채취 방법 </a:t>
            </a:r>
            <a:endParaRPr lang="en-US" altLang="ko-KR" b="1"/>
          </a:p>
          <a:p>
            <a:pPr lvl="1"/>
            <a:r>
              <a:rPr lang="en-US" altLang="ko-KR"/>
              <a:t>20s</a:t>
            </a:r>
            <a:r>
              <a:rPr lang="ko-KR" altLang="en-US"/>
              <a:t>간 샘플링</a:t>
            </a:r>
            <a:endParaRPr lang="en-US" altLang="ko-KR"/>
          </a:p>
          <a:p>
            <a:pPr lvl="1"/>
            <a:r>
              <a:rPr lang="en-US" altLang="ko-KR"/>
              <a:t>Air Control </a:t>
            </a:r>
            <a:r>
              <a:rPr lang="ko-KR" altLang="en-US"/>
              <a:t>추가 수집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94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altLang="ko-KR"/>
              <a:t>02</a:t>
            </a:r>
            <a:endParaRPr 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altLang="ko-KR"/>
              <a:t>01/  </a:t>
            </a:r>
            <a:r>
              <a:rPr lang="ko-KR" altLang="en-US"/>
              <a:t>기존 논문</a:t>
            </a:r>
            <a:endParaRPr 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ko-KR" altLang="en-US"/>
              <a:t>기존 연구 결과</a:t>
            </a:r>
            <a:endParaRPr 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/>
              <a:t>기존 논문의 주요 결론 </a:t>
            </a:r>
            <a:endParaRPr lang="en-US" altLang="ko-KR"/>
          </a:p>
          <a:p>
            <a:pPr lvl="1"/>
            <a:r>
              <a:rPr lang="en-US"/>
              <a:t>sampling system </a:t>
            </a:r>
            <a:r>
              <a:rPr lang="ko-KR" altLang="en-US"/>
              <a:t>간 </a:t>
            </a:r>
            <a:r>
              <a:rPr lang="en-US"/>
              <a:t>alpha-diversity </a:t>
            </a:r>
            <a:r>
              <a:rPr lang="ko-KR" altLang="en-US"/>
              <a:t>차이  </a:t>
            </a:r>
            <a:r>
              <a:rPr lang="ko-KR" altLang="en-US" u="sng"/>
              <a:t>유의하지 않음 </a:t>
            </a:r>
          </a:p>
          <a:p>
            <a:pPr lvl="2"/>
            <a:r>
              <a:rPr lang="en-US" altLang="ko-KR" i="1"/>
              <a:t>=&gt; </a:t>
            </a:r>
            <a:r>
              <a:rPr lang="ko-KR" altLang="en-US" i="1"/>
              <a:t>다양성 보존 측면에서는 </a:t>
            </a:r>
            <a:r>
              <a:rPr lang="en-US" altLang="ko-KR" i="1"/>
              <a:t>5</a:t>
            </a:r>
            <a:r>
              <a:rPr lang="ko-KR" altLang="en-US" i="1"/>
              <a:t>개의 샘플링 시스템이 유사</a:t>
            </a:r>
            <a:endParaRPr lang="en-US" altLang="ko-KR" i="1"/>
          </a:p>
          <a:p>
            <a:pPr lvl="2"/>
            <a:endParaRPr lang="en-US"/>
          </a:p>
          <a:p>
            <a:pPr lvl="1"/>
            <a:r>
              <a:rPr lang="en-US"/>
              <a:t>Sampling system </a:t>
            </a:r>
            <a:r>
              <a:rPr lang="ko-KR" altLang="en-US"/>
              <a:t>간 </a:t>
            </a:r>
            <a:r>
              <a:rPr lang="en-US" altLang="ko-KR"/>
              <a:t>beta-diversity </a:t>
            </a:r>
            <a:r>
              <a:rPr lang="ko-KR" altLang="en-US"/>
              <a:t>를 비교하는 </a:t>
            </a:r>
            <a:r>
              <a:rPr lang="en-US" i="1"/>
              <a:t>PERMANOVA </a:t>
            </a:r>
            <a:r>
              <a:rPr lang="ko-KR" altLang="en-US" i="1"/>
              <a:t>유의하지 않음</a:t>
            </a:r>
          </a:p>
          <a:p>
            <a:pPr lvl="2"/>
            <a:r>
              <a:rPr lang="en-US" altLang="ko-KR" i="1"/>
              <a:t>=&gt; </a:t>
            </a:r>
            <a:r>
              <a:rPr lang="ko-KR" altLang="en-US" i="1"/>
              <a:t>미생물 군집의 조성 및 분포에 대해서도 샘플링 시스템간 유사 </a:t>
            </a:r>
            <a:endParaRPr lang="en-US" i="1"/>
          </a:p>
          <a:p>
            <a:pPr lvl="1"/>
            <a:endParaRPr lang="en-US"/>
          </a:p>
          <a:p>
            <a:pPr lvl="1"/>
            <a:r>
              <a:rPr lang="en-US"/>
              <a:t>Participant</a:t>
            </a:r>
            <a:r>
              <a:rPr lang="ko-KR" altLang="en-US"/>
              <a:t>와 </a:t>
            </a:r>
            <a:r>
              <a:rPr lang="en-US"/>
              <a:t>anatomical site</a:t>
            </a:r>
            <a:r>
              <a:rPr lang="ko-KR" altLang="en-US"/>
              <a:t>에 따른 차이가 더 뚜렷함 </a:t>
            </a:r>
            <a:r>
              <a:rPr lang="en-US" altLang="ko-KR"/>
              <a:t>(PERMANOVA)</a:t>
            </a:r>
            <a:endParaRPr lang="ko-KR" altLang="en-US"/>
          </a:p>
          <a:p>
            <a:pPr lvl="2"/>
            <a:r>
              <a:rPr lang="en-US" altLang="ko-KR" i="1"/>
              <a:t> =&gt; </a:t>
            </a:r>
            <a:r>
              <a:rPr lang="ko-KR" altLang="en-US" i="1"/>
              <a:t>가장 중요한 대상자 및 부위에 따른 특성이 더 두드러지게 관찰됨 </a:t>
            </a:r>
            <a:endParaRPr lang="en-US" altLang="ko-KR" i="1"/>
          </a:p>
          <a:p>
            <a:pPr lvl="2"/>
            <a:endParaRPr lang="en-US" altLang="ko-KR"/>
          </a:p>
          <a:p>
            <a:pPr lvl="1"/>
            <a:r>
              <a:rPr lang="ko-KR" altLang="en-US"/>
              <a:t>주요 </a:t>
            </a:r>
            <a:r>
              <a:rPr lang="en-US"/>
              <a:t>bacterial genera</a:t>
            </a:r>
            <a:r>
              <a:rPr lang="ko-KR" altLang="en-US"/>
              <a:t>가 다섯 </a:t>
            </a:r>
            <a:r>
              <a:rPr lang="en-US"/>
              <a:t>syste</a:t>
            </a:r>
            <a:r>
              <a:rPr lang="ko-KR" altLang="en-US"/>
              <a:t>에서 공통으로 검출됨</a:t>
            </a:r>
          </a:p>
          <a:p>
            <a:pPr lvl="2"/>
            <a:r>
              <a:rPr lang="en-US" altLang="ko-KR" i="1"/>
              <a:t>=&gt;  </a:t>
            </a:r>
            <a:r>
              <a:rPr lang="ko-KR" altLang="en-US" i="1"/>
              <a:t>피부 상재균의 수집에 따라서도 큰 차이를 보이지 않음</a:t>
            </a:r>
            <a:endParaRPr lang="en-US" altLang="ko-KR" i="1"/>
          </a:p>
          <a:p>
            <a:pPr lvl="2"/>
            <a:endParaRPr lang="en-US" i="1"/>
          </a:p>
          <a:p>
            <a:r>
              <a:rPr lang="ko-KR" altLang="en-US" i="1"/>
              <a:t>결론적으로</a:t>
            </a:r>
            <a:r>
              <a:rPr lang="en-US" altLang="ko-KR" i="1"/>
              <a:t>, </a:t>
            </a:r>
            <a:r>
              <a:rPr lang="ko-KR" altLang="en-US" i="1"/>
              <a:t>샘플링 시스템간 마이크로바이옴 연구에서 유의한 차이를 보여주지 않았으며</a:t>
            </a:r>
            <a:r>
              <a:rPr lang="en-US" altLang="ko-KR" i="1"/>
              <a:t>, </a:t>
            </a:r>
            <a:r>
              <a:rPr lang="ko-KR" altLang="en-US" i="1"/>
              <a:t>실제적인 샘플 채취에 대한 장단점을 기반으로 서술</a:t>
            </a:r>
            <a:endParaRPr lang="en-US" altLang="ko-KR" i="1"/>
          </a:p>
          <a:p>
            <a:pPr lvl="1"/>
            <a:r>
              <a:rPr lang="ko-KR" altLang="en-US" i="1"/>
              <a:t>재질에 따른 차이 </a:t>
            </a:r>
            <a:endParaRPr lang="en-US" altLang="ko-KR" i="1"/>
          </a:p>
          <a:p>
            <a:pPr lvl="1"/>
            <a:r>
              <a:rPr lang="en-US" altLang="ko-KR" i="1"/>
              <a:t>Medium </a:t>
            </a:r>
            <a:r>
              <a:rPr lang="ko-KR" altLang="en-US" i="1"/>
              <a:t>에 따른 차이 가 논의에 기술되어있음</a:t>
            </a:r>
            <a:endParaRPr lang="en-US" i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545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altLang="ko-KR"/>
              <a:t>03</a:t>
            </a:r>
            <a:endParaRPr 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altLang="ko-KR"/>
              <a:t>01/  </a:t>
            </a:r>
            <a:r>
              <a:rPr lang="ko-KR" altLang="en-US"/>
              <a:t>기존 논문</a:t>
            </a:r>
            <a:endParaRPr 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ko-KR" altLang="en-US"/>
              <a:t>기존 분석의 한계 </a:t>
            </a:r>
            <a:endParaRPr 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ko-KR" altLang="en-US" sz="1200"/>
              <a:t>피부는 </a:t>
            </a:r>
            <a:r>
              <a:rPr lang="en-US" sz="1200"/>
              <a:t>low-biomass sample</a:t>
            </a:r>
            <a:r>
              <a:rPr lang="ko-KR" altLang="en-US" sz="1200"/>
              <a:t>이므로 오염에 매우 민감 함 </a:t>
            </a:r>
          </a:p>
          <a:p>
            <a:pPr lvl="1"/>
            <a:r>
              <a:rPr lang="ko-KR" altLang="en-US" sz="1200"/>
              <a:t>이를 판별하기 위해서 단계별 </a:t>
            </a:r>
            <a:r>
              <a:rPr lang="en-US" altLang="ko-KR" sz="1200"/>
              <a:t>control</a:t>
            </a:r>
            <a:r>
              <a:rPr lang="ko-KR" altLang="en-US" sz="1200"/>
              <a:t> 샘플의 추가가 </a:t>
            </a:r>
            <a:r>
              <a:rPr lang="ko-KR" altLang="en-US" sz="1200" b="1"/>
              <a:t>필수적임 </a:t>
            </a:r>
            <a:endParaRPr lang="en-US" altLang="ko-KR" sz="1200" b="1"/>
          </a:p>
          <a:p>
            <a:pPr lvl="2"/>
            <a:r>
              <a:rPr lang="ko-KR" altLang="en-US" sz="1100" b="1">
                <a:solidFill>
                  <a:srgbClr val="1C33D7"/>
                </a:solidFill>
              </a:rPr>
              <a:t>수집 시 환경 </a:t>
            </a:r>
            <a:r>
              <a:rPr lang="en-US" altLang="ko-KR" sz="1100" b="1">
                <a:solidFill>
                  <a:srgbClr val="1C33D7"/>
                </a:solidFill>
              </a:rPr>
              <a:t>Control</a:t>
            </a:r>
          </a:p>
          <a:p>
            <a:pPr lvl="2"/>
            <a:r>
              <a:rPr lang="en-US" altLang="ko-KR" sz="1100" b="1">
                <a:solidFill>
                  <a:srgbClr val="1C33D7"/>
                </a:solidFill>
              </a:rPr>
              <a:t>DNA extraction blank</a:t>
            </a:r>
          </a:p>
          <a:p>
            <a:pPr lvl="2"/>
            <a:r>
              <a:rPr lang="en-US" altLang="ko-KR" sz="1100" b="1">
                <a:solidFill>
                  <a:srgbClr val="1C33D7"/>
                </a:solidFill>
              </a:rPr>
              <a:t>Primer</a:t>
            </a:r>
          </a:p>
          <a:p>
            <a:pPr lvl="2"/>
            <a:r>
              <a:rPr lang="en-US" altLang="ko-KR" sz="1100" b="1">
                <a:solidFill>
                  <a:srgbClr val="1C33D7"/>
                </a:solidFill>
              </a:rPr>
              <a:t>Library </a:t>
            </a:r>
            <a:r>
              <a:rPr lang="ko-KR" altLang="en-US" sz="1100" b="1">
                <a:solidFill>
                  <a:srgbClr val="1C33D7"/>
                </a:solidFill>
              </a:rPr>
              <a:t>에 사용되는 시약</a:t>
            </a:r>
            <a:endParaRPr lang="en-US" altLang="ko-KR" sz="1100" b="1">
              <a:solidFill>
                <a:srgbClr val="1C33D7"/>
              </a:solidFill>
            </a:endParaRPr>
          </a:p>
          <a:p>
            <a:pPr lvl="2"/>
            <a:r>
              <a:rPr lang="en-US" altLang="ko-KR" sz="1100">
                <a:solidFill>
                  <a:srgbClr val="1C33D7"/>
                </a:solidFill>
              </a:rPr>
              <a:t>+ </a:t>
            </a:r>
            <a:r>
              <a:rPr lang="ko-KR" altLang="en-US" sz="1100">
                <a:solidFill>
                  <a:srgbClr val="1C33D7"/>
                </a:solidFill>
              </a:rPr>
              <a:t>실험 시 사용되는 </a:t>
            </a:r>
            <a:r>
              <a:rPr lang="en-US" altLang="ko-KR" sz="1100">
                <a:solidFill>
                  <a:srgbClr val="1C33D7"/>
                </a:solidFill>
              </a:rPr>
              <a:t>PBS, H2O </a:t>
            </a:r>
          </a:p>
          <a:p>
            <a:pPr lvl="2"/>
            <a:r>
              <a:rPr lang="en-US" altLang="ko-KR" sz="1100">
                <a:solidFill>
                  <a:srgbClr val="1C33D7"/>
                </a:solidFill>
              </a:rPr>
              <a:t>+ Positive control (Mock community)</a:t>
            </a:r>
          </a:p>
          <a:p>
            <a:pPr lvl="2"/>
            <a:r>
              <a:rPr lang="en-US" altLang="ko-KR" sz="1100">
                <a:solidFill>
                  <a:srgbClr val="1C33D7"/>
                </a:solidFill>
              </a:rPr>
              <a:t>+ </a:t>
            </a:r>
            <a:r>
              <a:rPr lang="ko-KR" altLang="en-US" sz="1100">
                <a:solidFill>
                  <a:srgbClr val="1C33D7"/>
                </a:solidFill>
              </a:rPr>
              <a:t>농도에 따라 희석한 </a:t>
            </a:r>
            <a:r>
              <a:rPr lang="en-US" altLang="ko-KR" sz="1100">
                <a:solidFill>
                  <a:srgbClr val="1C33D7"/>
                </a:solidFill>
              </a:rPr>
              <a:t>Mock </a:t>
            </a:r>
            <a:r>
              <a:rPr lang="ko-KR" altLang="en-US" sz="1100">
                <a:solidFill>
                  <a:srgbClr val="1C33D7"/>
                </a:solidFill>
              </a:rPr>
              <a:t>과 </a:t>
            </a:r>
            <a:r>
              <a:rPr lang="en-US" altLang="ko-KR" sz="1100">
                <a:solidFill>
                  <a:srgbClr val="1C33D7"/>
                </a:solidFill>
              </a:rPr>
              <a:t>True sample</a:t>
            </a:r>
            <a:endParaRPr lang="en-US" altLang="ko-KR" sz="1100"/>
          </a:p>
          <a:p>
            <a:pPr lvl="1"/>
            <a:r>
              <a:rPr lang="ko-KR" altLang="en-US" sz="1200"/>
              <a:t>현재 프로젝트에서 총 </a:t>
            </a:r>
            <a:r>
              <a:rPr lang="en-US" altLang="ko-KR" sz="1200"/>
              <a:t>5</a:t>
            </a:r>
            <a:r>
              <a:rPr lang="ko-KR" altLang="en-US" sz="1200"/>
              <a:t>개의 </a:t>
            </a:r>
            <a:r>
              <a:rPr lang="en-US" altLang="ko-KR" sz="1200"/>
              <a:t>Air swab  </a:t>
            </a:r>
            <a:r>
              <a:rPr lang="ko-KR" altLang="en-US" sz="1200"/>
              <a:t>만 존재함</a:t>
            </a:r>
            <a:r>
              <a:rPr lang="en-US" altLang="ko-KR" sz="1200"/>
              <a:t>, </a:t>
            </a:r>
            <a:r>
              <a:rPr lang="ko-KR" altLang="en-US" sz="1200"/>
              <a:t>이 경우에는 각 단계별 오염을 점검할 수 없고</a:t>
            </a:r>
            <a:r>
              <a:rPr lang="en-US" altLang="ko-KR" sz="1200"/>
              <a:t>, </a:t>
            </a:r>
            <a:r>
              <a:rPr lang="ko-KR" altLang="en-US" sz="1200"/>
              <a:t>환경 오염 </a:t>
            </a:r>
            <a:r>
              <a:rPr lang="en-US" altLang="ko-KR" sz="1200"/>
              <a:t>+ </a:t>
            </a:r>
            <a:r>
              <a:rPr lang="ko-KR" altLang="en-US" sz="1200"/>
              <a:t>시약 </a:t>
            </a:r>
            <a:r>
              <a:rPr lang="en-US" altLang="ko-KR" sz="1200"/>
              <a:t>Contam </a:t>
            </a:r>
            <a:r>
              <a:rPr lang="ko-KR" altLang="en-US" sz="1200"/>
              <a:t>이 혼합된 결과를 도출함 </a:t>
            </a:r>
            <a:endParaRPr lang="en-US" altLang="ko-KR" sz="1200"/>
          </a:p>
          <a:p>
            <a:pPr lvl="1"/>
            <a:r>
              <a:rPr lang="ko-KR" altLang="en-US" sz="1200"/>
              <a:t>그러나 </a:t>
            </a:r>
            <a:r>
              <a:rPr lang="en-US" altLang="ko-KR" sz="1200"/>
              <a:t>NC</a:t>
            </a:r>
            <a:r>
              <a:rPr lang="ko-KR" altLang="en-US" sz="1200"/>
              <a:t>기반 오염 제거 단계가 수행되지 않음</a:t>
            </a:r>
            <a:endParaRPr lang="en-US" altLang="ko-KR" sz="1200"/>
          </a:p>
          <a:p>
            <a:pPr lvl="1"/>
            <a:endParaRPr lang="en-US" sz="1200"/>
          </a:p>
          <a:p>
            <a:r>
              <a:rPr lang="ko-KR" altLang="en-US" sz="1200"/>
              <a:t>또한 오염제거에 사용되는 대표적인 도구인 </a:t>
            </a:r>
            <a:r>
              <a:rPr lang="en-US" sz="1200"/>
              <a:t>decontam</a:t>
            </a:r>
            <a:r>
              <a:rPr lang="ko-KR" altLang="en-US" sz="1200"/>
              <a:t>에서 오염 제거 강도의 설정</a:t>
            </a:r>
            <a:r>
              <a:rPr lang="en-US" altLang="ko-KR" sz="1200"/>
              <a:t>(</a:t>
            </a:r>
            <a:r>
              <a:rPr lang="en-US" sz="1200"/>
              <a:t>threshold</a:t>
            </a:r>
            <a:r>
              <a:rPr lang="en-US" altLang="ko-KR" sz="1200"/>
              <a:t>)</a:t>
            </a:r>
            <a:r>
              <a:rPr lang="ko-KR" altLang="en-US" sz="1200"/>
              <a:t>을 추가 고려해야 함</a:t>
            </a:r>
            <a:endParaRPr lang="en-US" altLang="ko-KR" sz="1200"/>
          </a:p>
          <a:p>
            <a:pPr lvl="1"/>
            <a:r>
              <a:rPr lang="en-US" altLang="ko-KR" sz="1200"/>
              <a:t>Threshold </a:t>
            </a:r>
            <a:r>
              <a:rPr lang="ko-KR" altLang="en-US" sz="1200"/>
              <a:t>에 따라 미생물 분포가 일부 달라짐 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기존 분석은 </a:t>
            </a:r>
            <a:r>
              <a:rPr lang="en-US" sz="1200"/>
              <a:t>preprocessing robustness</a:t>
            </a:r>
            <a:r>
              <a:rPr lang="ko-KR" altLang="en-US" sz="1200"/>
              <a:t>를 직접 증명하지 않았음</a:t>
            </a:r>
            <a:endParaRPr lang="en-US" altLang="ko-KR" sz="1200"/>
          </a:p>
          <a:p>
            <a:pPr lvl="1"/>
            <a:r>
              <a:rPr lang="en-US" altLang="ko-KR" sz="1200">
                <a:solidFill>
                  <a:srgbClr val="1C33D7"/>
                </a:solidFill>
              </a:rPr>
              <a:t>Rarefy depth, minor ASV </a:t>
            </a:r>
            <a:r>
              <a:rPr lang="ko-KR" altLang="en-US" sz="1200">
                <a:solidFill>
                  <a:srgbClr val="1C33D7"/>
                </a:solidFill>
              </a:rPr>
              <a:t>삭제</a:t>
            </a:r>
            <a:r>
              <a:rPr lang="en-US" altLang="ko-KR" sz="1200">
                <a:solidFill>
                  <a:srgbClr val="1C33D7"/>
                </a:solidFill>
              </a:rPr>
              <a:t> </a:t>
            </a:r>
            <a:r>
              <a:rPr lang="ko-KR" altLang="en-US" sz="1200">
                <a:solidFill>
                  <a:srgbClr val="1C33D7"/>
                </a:solidFill>
              </a:rPr>
              <a:t>여부</a:t>
            </a:r>
            <a:r>
              <a:rPr lang="en-US" altLang="ko-KR" sz="1200">
                <a:solidFill>
                  <a:srgbClr val="1C33D7"/>
                </a:solidFill>
              </a:rPr>
              <a:t>, </a:t>
            </a:r>
            <a:r>
              <a:rPr lang="ko-KR" altLang="en-US" sz="1200">
                <a:solidFill>
                  <a:srgbClr val="1C33D7"/>
                </a:solidFill>
              </a:rPr>
              <a:t>데이터 </a:t>
            </a:r>
            <a:r>
              <a:rPr lang="en-US" altLang="ko-KR" sz="1200">
                <a:solidFill>
                  <a:srgbClr val="1C33D7"/>
                </a:solidFill>
              </a:rPr>
              <a:t>filtering</a:t>
            </a:r>
            <a:r>
              <a:rPr lang="ko-KR" altLang="en-US" sz="1200">
                <a:solidFill>
                  <a:srgbClr val="1C33D7"/>
                </a:solidFill>
              </a:rPr>
              <a:t>여부</a:t>
            </a:r>
          </a:p>
        </p:txBody>
      </p:sp>
    </p:spTree>
    <p:extLst>
      <p:ext uri="{BB962C8B-B14F-4D97-AF65-F5344CB8AC3E}">
        <p14:creationId xmlns:p14="http://schemas.microsoft.com/office/powerpoint/2010/main" val="26225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altLang="ko-KR"/>
              <a:t>01</a:t>
            </a:r>
            <a:endParaRPr 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altLang="ko-KR"/>
              <a:t>02/ </a:t>
            </a:r>
            <a:r>
              <a:rPr lang="ko-KR" altLang="en-US"/>
              <a:t>선행 연구</a:t>
            </a:r>
            <a:endParaRPr 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ko-KR" altLang="en-US"/>
              <a:t>논문의 </a:t>
            </a:r>
            <a:r>
              <a:rPr lang="en-US" altLang="ko-KR"/>
              <a:t>novelty </a:t>
            </a:r>
            <a:r>
              <a:rPr lang="ko-KR" altLang="en-US"/>
              <a:t>비교 </a:t>
            </a:r>
            <a:endParaRPr lang="en-US"/>
          </a:p>
        </p:txBody>
      </p:sp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35B8392D-2829-41AE-A4B4-1E7634CF64A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62111394"/>
              </p:ext>
            </p:extLst>
          </p:nvPr>
        </p:nvGraphicFramePr>
        <p:xfrm>
          <a:off x="228600" y="885825"/>
          <a:ext cx="8686800" cy="741680"/>
        </p:xfrm>
        <a:graphic>
          <a:graphicData uri="http://schemas.openxmlformats.org/drawingml/2006/table">
            <a:tbl>
              <a:tblPr firstRow="1" bandRow="1">
                <a:tableStyleId>{5677EC35-DC63-4FD0-B777-EF276876572E}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37664344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109536877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144919218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210425207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4009370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41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133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934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altLang="ko-KR"/>
              <a:t>01</a:t>
            </a:r>
            <a:endParaRPr 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altLang="ko-KR"/>
              <a:t>03/  </a:t>
            </a:r>
            <a:r>
              <a:rPr lang="ko-KR" altLang="en-US"/>
              <a:t>재분석</a:t>
            </a:r>
            <a:endParaRPr 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altLang="ko-KR"/>
              <a:t>Decontam </a:t>
            </a:r>
            <a:r>
              <a:rPr lang="ko-KR" altLang="en-US"/>
              <a:t>에 따른 재분석 설계와 </a:t>
            </a:r>
            <a:r>
              <a:rPr lang="en-US" altLang="ko-KR"/>
              <a:t>threshold</a:t>
            </a:r>
            <a:r>
              <a:rPr lang="ko-KR" altLang="en-US"/>
              <a:t>의 선택</a:t>
            </a:r>
            <a:endParaRPr 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8752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altLang="ko-KR"/>
              <a:t>02</a:t>
            </a:r>
            <a:endParaRPr 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altLang="ko-KR"/>
              <a:t>03/  </a:t>
            </a:r>
            <a:r>
              <a:rPr lang="ko-KR" altLang="en-US"/>
              <a:t>재분석</a:t>
            </a:r>
            <a:endParaRPr 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altLang="ko-KR"/>
              <a:t>Preprocessing </a:t>
            </a:r>
            <a:r>
              <a:rPr lang="ko-KR" altLang="en-US"/>
              <a:t>에 따른 변화</a:t>
            </a:r>
            <a:endParaRPr 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7204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altLang="ko-KR"/>
              <a:t>03</a:t>
            </a:r>
            <a:endParaRPr 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altLang="ko-KR"/>
              <a:t>03/  </a:t>
            </a:r>
            <a:r>
              <a:rPr lang="ko-KR" altLang="en-US"/>
              <a:t>재분석</a:t>
            </a:r>
            <a:endParaRPr 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ko-KR" altLang="en-US"/>
              <a:t>최종 결론</a:t>
            </a:r>
            <a:endParaRPr 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0585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altLang="ko-KR"/>
              <a:t>01</a:t>
            </a:r>
            <a:endParaRPr 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altLang="ko-KR"/>
              <a:t>04/  </a:t>
            </a:r>
            <a:r>
              <a:rPr lang="ko-KR" altLang="en-US"/>
              <a:t>논문 수정 방향과 투고 전략</a:t>
            </a:r>
            <a:endParaRPr 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ko-KR" altLang="en-US"/>
              <a:t>논문 일부 수정 방향</a:t>
            </a:r>
            <a:endParaRPr 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/>
              <a:t> Result </a:t>
            </a:r>
            <a:r>
              <a:rPr lang="ko-KR" altLang="en-US"/>
              <a:t>추가 </a:t>
            </a:r>
            <a:endParaRPr lang="en-US" altLang="ko-KR"/>
          </a:p>
          <a:p>
            <a:pPr lvl="1"/>
            <a:r>
              <a:rPr lang="en-US" altLang="ko-KR"/>
              <a:t>Stability of sampling-system comparisons across preprocessing conditions</a:t>
            </a:r>
          </a:p>
          <a:p>
            <a:pPr lvl="2"/>
            <a:r>
              <a:rPr lang="en-US" altLang="ko-KR"/>
              <a:t>Decontam</a:t>
            </a:r>
            <a:r>
              <a:rPr lang="ko-KR" altLang="en-US"/>
              <a:t>에 대한 영향</a:t>
            </a:r>
            <a:r>
              <a:rPr lang="en-US" altLang="ko-KR"/>
              <a:t>, preprocessing</a:t>
            </a:r>
            <a:r>
              <a:rPr lang="ko-KR" altLang="en-US"/>
              <a:t>에 따른 데이터 영향 추가 논의 </a:t>
            </a:r>
            <a:endParaRPr lang="en-US" altLang="ko-KR"/>
          </a:p>
          <a:p>
            <a:pPr lvl="1"/>
            <a:r>
              <a:rPr lang="en-US"/>
              <a:t>Supplementary </a:t>
            </a:r>
            <a:r>
              <a:rPr lang="en-US" altLang="ko-KR"/>
              <a:t> table and figure </a:t>
            </a:r>
            <a:r>
              <a:rPr lang="ko-KR" altLang="en-US"/>
              <a:t>로 추가 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en-US" altLang="ko-KR"/>
              <a:t>Discussion </a:t>
            </a:r>
            <a:r>
              <a:rPr lang="ko-KR" altLang="en-US"/>
              <a:t>단락 추가</a:t>
            </a:r>
            <a:endParaRPr lang="en-US" altLang="ko-KR"/>
          </a:p>
          <a:p>
            <a:pPr lvl="1"/>
            <a:r>
              <a:rPr lang="en-US"/>
              <a:t>sampling-system </a:t>
            </a:r>
            <a:r>
              <a:rPr lang="ko-KR" altLang="en-US"/>
              <a:t>효과가 </a:t>
            </a:r>
            <a:r>
              <a:rPr lang="en-US"/>
              <a:t>preprocessing </a:t>
            </a:r>
            <a:r>
              <a:rPr lang="ko-KR" altLang="en-US"/>
              <a:t>선택에 의해 만들어진 결과가 아님</a:t>
            </a:r>
          </a:p>
          <a:p>
            <a:pPr lvl="1"/>
            <a:r>
              <a:rPr lang="ko-KR" altLang="en-US"/>
              <a:t>강한 </a:t>
            </a:r>
            <a:r>
              <a:rPr lang="en-US"/>
              <a:t>filtering</a:t>
            </a:r>
            <a:r>
              <a:rPr lang="ko-KR" altLang="en-US"/>
              <a:t>은  합치된 미생물 종 비율을 높일 수 있음</a:t>
            </a:r>
          </a:p>
          <a:p>
            <a:pPr lvl="1"/>
            <a:r>
              <a:rPr lang="ko-KR" altLang="en-US"/>
              <a:t>보수적인 </a:t>
            </a:r>
            <a:r>
              <a:rPr lang="en-US"/>
              <a:t>filtering(e.g. singleton</a:t>
            </a:r>
            <a:r>
              <a:rPr lang="ko-KR" altLang="en-US"/>
              <a:t>만 제거</a:t>
            </a:r>
            <a:r>
              <a:rPr lang="en-US" altLang="ko-KR"/>
              <a:t>)</a:t>
            </a:r>
            <a:r>
              <a:rPr lang="ko-KR" altLang="en-US"/>
              <a:t>이 원래 </a:t>
            </a:r>
            <a:r>
              <a:rPr lang="en-US"/>
              <a:t>biological structure</a:t>
            </a:r>
            <a:r>
              <a:rPr lang="ko-KR" altLang="en-US"/>
              <a:t>를 가장 잘 보존</a:t>
            </a:r>
          </a:p>
          <a:p>
            <a:pPr lvl="1"/>
            <a:r>
              <a:rPr lang="en-US"/>
              <a:t>pilot sample size</a:t>
            </a:r>
            <a:r>
              <a:rPr lang="ko-KR" altLang="en-US"/>
              <a:t>와 완전한 </a:t>
            </a:r>
            <a:r>
              <a:rPr lang="en-US"/>
              <a:t>factorial design </a:t>
            </a:r>
            <a:r>
              <a:rPr lang="ko-KR" altLang="en-US"/>
              <a:t>부재를 한계로 명시</a:t>
            </a:r>
          </a:p>
          <a:p>
            <a:pPr lvl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2764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altLang="ko-KR"/>
              <a:t>02</a:t>
            </a:r>
            <a:endParaRPr 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altLang="ko-KR"/>
              <a:t>04/  </a:t>
            </a:r>
            <a:r>
              <a:rPr lang="ko-KR" altLang="en-US"/>
              <a:t>논문 수정 방향과 투고 전략</a:t>
            </a:r>
            <a:endParaRPr 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ko-KR" altLang="en-US"/>
              <a:t>투고지 제안 </a:t>
            </a:r>
            <a:r>
              <a:rPr lang="en-US" altLang="ko-KR"/>
              <a:t>(SCIE)</a:t>
            </a:r>
            <a:endParaRPr 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/>
              <a:t>Microbiology Spectrum </a:t>
            </a:r>
          </a:p>
          <a:p>
            <a:pPr lvl="1"/>
            <a:r>
              <a:rPr lang="ko-KR" altLang="en-US"/>
              <a:t>미국미생물학회</a:t>
            </a:r>
            <a:r>
              <a:rPr lang="en-US" altLang="ko-KR"/>
              <a:t>(ASM)</a:t>
            </a:r>
            <a:endParaRPr lang="en-US"/>
          </a:p>
          <a:p>
            <a:pPr lvl="1"/>
            <a:r>
              <a:rPr lang="en-US"/>
              <a:t>IF = 3.8 </a:t>
            </a:r>
            <a:r>
              <a:rPr lang="en-US" altLang="ko-KR"/>
              <a:t>(2025)</a:t>
            </a:r>
            <a:endParaRPr lang="en-US"/>
          </a:p>
          <a:p>
            <a:pPr lvl="1"/>
            <a:endParaRPr lang="en-US"/>
          </a:p>
          <a:p>
            <a:r>
              <a:rPr lang="en-US" b="1"/>
              <a:t>Journal of Applied Microbiology</a:t>
            </a:r>
          </a:p>
          <a:p>
            <a:pPr lvl="1"/>
            <a:r>
              <a:rPr lang="en-US" altLang="ko-KR"/>
              <a:t>IF = 2.8 (2025)</a:t>
            </a:r>
          </a:p>
          <a:p>
            <a:pPr lvl="1"/>
            <a:endParaRPr lang="en-US"/>
          </a:p>
          <a:p>
            <a:r>
              <a:rPr lang="en-US"/>
              <a:t>Frontiers in Microbiomes</a:t>
            </a:r>
          </a:p>
          <a:p>
            <a:pPr lvl="1"/>
            <a:r>
              <a:rPr lang="en-US"/>
              <a:t>IF = 3 </a:t>
            </a:r>
            <a:r>
              <a:rPr lang="en-US" altLang="ko-KR"/>
              <a:t>(2025)</a:t>
            </a:r>
          </a:p>
          <a:p>
            <a:endParaRPr lang="en-US"/>
          </a:p>
          <a:p>
            <a:r>
              <a:rPr lang="en-US" b="1"/>
              <a:t>Journal of Microbiology and Biotechnology  </a:t>
            </a:r>
            <a:r>
              <a:rPr lang="en-US" altLang="ko-KR" b="1"/>
              <a:t>(JMB)</a:t>
            </a:r>
            <a:endParaRPr lang="en-US" b="1"/>
          </a:p>
          <a:p>
            <a:pPr lvl="1"/>
            <a:r>
              <a:rPr lang="ko-KR" altLang="en-US"/>
              <a:t>한국미생물</a:t>
            </a:r>
            <a:r>
              <a:rPr lang="en-US" altLang="ko-KR"/>
              <a:t>, </a:t>
            </a:r>
            <a:r>
              <a:rPr lang="ko-KR" altLang="en-US"/>
              <a:t>생명공학회 </a:t>
            </a:r>
            <a:endParaRPr lang="en-US" altLang="ko-KR"/>
          </a:p>
          <a:p>
            <a:pPr lvl="1"/>
            <a:r>
              <a:rPr lang="en-US" altLang="ko-KR"/>
              <a:t>IF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3.1 (2025)</a:t>
            </a:r>
          </a:p>
          <a:p>
            <a:pPr lvl="1"/>
            <a:endParaRPr lang="en-US" altLang="ko-KR"/>
          </a:p>
          <a:p>
            <a:r>
              <a:rPr lang="en-US"/>
              <a:t>Journal of Microbiology  </a:t>
            </a:r>
            <a:r>
              <a:rPr lang="en-US" altLang="ko-KR"/>
              <a:t>(JMB)</a:t>
            </a:r>
          </a:p>
          <a:p>
            <a:pPr lvl="1"/>
            <a:r>
              <a:rPr lang="ko-KR" altLang="en-US"/>
              <a:t>한국 미생물 학회 </a:t>
            </a:r>
            <a:endParaRPr lang="en-US" altLang="ko-KR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2960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2081</TotalTime>
  <Words>550</Words>
  <Application>Microsoft Office PowerPoint</Application>
  <PresentationFormat>화면 슬라이드 쇼(16:9)</PresentationFormat>
  <Paragraphs>110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Arial</vt:lpstr>
      <vt:lpstr>Wingdings</vt:lpstr>
      <vt:lpstr>Calibri</vt:lpstr>
      <vt:lpstr>Pretendard</vt:lpstr>
      <vt:lpstr>디자인 사용자 지정</vt:lpstr>
      <vt:lpstr>DT Swab 재분석 결과 보고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본인 및 연구분야 소개</dc:title>
  <dc:creator>officegen</dc:creator>
  <cp:lastModifiedBy>So-Yeon Kim</cp:lastModifiedBy>
  <cp:revision>193</cp:revision>
  <dcterms:created xsi:type="dcterms:W3CDTF">2024-03-21T14:34:25Z</dcterms:created>
  <dcterms:modified xsi:type="dcterms:W3CDTF">2026-08-25T02:48:39Z</dcterms:modified>
</cp:coreProperties>
</file>