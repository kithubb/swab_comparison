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</p:sldIdLst>
  <p:sldSz cx="9144000" cy="5143500" type="screen16x9"/>
  <p:notesSz cx="6858000" cy="9144000"/>
  <p:embeddedFontLst>
    <p:embeddedFont>
      <p:font typeface="Pretendard" panose="02000503000000020004" pitchFamily="50" charset="-127"/>
      <p:regular r:id="rId14"/>
      <p:bold r:id="rId15"/>
    </p:embeddedFont>
    <p:embeddedFont>
      <p:font typeface="맑은 고딕" panose="020B0503020000020004" pitchFamily="50" charset="-127"/>
      <p:regular r:id="rId16"/>
      <p:bold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677EC35-DC63-4FD0-B777-EF276876572E}">
  <a:tblStyle styleId="{5677EC35-DC63-4FD0-B777-EF27687657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5758FB7-9AC5-4552-8A53-C91805E547FA}" styleName="테마 스타일 1 - 강조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276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Internal analysis update; no external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Study design and analysis facts from project metadata and completed R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Manuscript_figure_set_output/Figure1_bacterial_diversity.png.</a:t>
            </a:r>
          </a:p>
          <a:p>
            <a:r>
              <a:t>PERMANOVA: completed reanalysis, 9,999 permutations; participant analysis unstratified.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06_Integrated_decontam_filter_sampling_system_analysis.Rmd and Integrated_sensitivity_output/README_results.txt.</a:t>
            </a:r>
          </a:p>
          <a:p>
            <a:r>
              <a:t>Context literature: Bjerre et al., Scientific Reports 2019; Bay et al., American Journal of Human Biology 2021.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Bjerre RD et al. Effects of sampling strategy and DNA extraction on human skin microbiome investigations. Scientific Reports. 2019. PMID 31754146.</a:t>
            </a:r>
          </a:p>
          <a:p>
            <a:r>
              <a:t>Bay L et al. Comparing different sample collection and storage methods for field-based skin microbiome research. American Journal of Human Biology. 2021. PMID 33644952.</a:t>
            </a:r>
          </a:p>
          <a:p>
            <a:r>
              <a:t>Ogai K et al. A Comparison of Techniques for Collecting Skin Microbiome Samples: Swabbing Versus Tape-Stripping. Frontiers in Microbiology. 2018. PMID 30519225.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Integrated_sensitivity_output/Figures/Figure1_decontam_read_and_sample_retention.png.</a:t>
            </a:r>
          </a:p>
          <a:p>
            <a:r>
              <a:t>Internal source: Table14_integrated_decontam_threshold_results.csv.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Integrated_sensitivity_output/Figures/Figure4_filter_retention_and_system_effect.png.</a:t>
            </a:r>
          </a:p>
          <a:p>
            <a:r>
              <a:t>Internal source: Table15_integrated_filter_results.csv.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Integrated_sensitivity_output/Figures/Figure8_fixed50_signal_preservation_ratio.png.</a:t>
            </a:r>
          </a:p>
          <a:p>
            <a:r>
              <a:t>Fixed 50-sample analyses use Bray-Curtis, binary Jaccard, Aitchison, weighted and unweighted UniFrac.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Microbiology Spectrum: https://journals.asm.org/journal/spectrum/about ; 2026 ASM journals catalog reports IF 3.8.</a:t>
            </a:r>
          </a:p>
          <a:p>
            <a:r>
              <a:t>MicrobiologyOpen: https://onlinelibrary.wiley.com/journal/20458827 ; official page reports IF 3.6.</a:t>
            </a:r>
          </a:p>
          <a:p>
            <a:r>
              <a:t>Frontiers in Microbiomes: https://www.frontiersin.org/journals/microbiomes/about ; official page reports IF 3.0 and excludes observational surveys.</a:t>
            </a:r>
          </a:p>
          <a:p>
            <a:r>
              <a:t>JMB current metric must be verified in the institution JCR immediately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Internal source: Integrated_sensitivity_output/Figures/Figure2_decontam_effect_size_stability.png.</a:t>
            </a:r>
          </a:p>
          <a:p>
            <a:r>
              <a:t>Manuscript revision status: internal project status as of 2026-08-25.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제목 슬라이드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16;p48"/>
          <p:cNvPicPr>
            <a:picLocks noChangeAspect="1"/>
          </p:cNvPicPr>
          <p:nvPr/>
        </p:nvPicPr>
        <p:blipFill rotWithShape="1">
          <a:blip r:embed="rId2">
            <a:alphaModFix/>
          </a:blip>
          <a:srcRect b="86608"/>
          <a:stretch/>
        </p:blipFill>
        <p:spPr>
          <a:xfrm>
            <a:off x="3246666" y="4495687"/>
            <a:ext cx="2618069" cy="247763"/>
          </a:xfrm>
          <a:prstGeom prst="rect">
            <a:avLst/>
          </a:prstGeom>
          <a:ln>
            <a:noFill/>
          </a:ln>
        </p:spPr>
      </p:pic>
      <p:sp>
        <p:nvSpPr>
          <p:cNvPr id="17" name="Google Shape;17;p48">
            <a:extLst>
              <a:ext uri="{FF2B5EF4-FFF2-40B4-BE49-F238E27FC236}">
                <a16:creationId xmlns:a16="http://schemas.microsoft.com/office/drawing/2014/main" id="{2597E46A-6B49-4F78-8C05-6171D0639475}"/>
              </a:ext>
            </a:extLst>
          </p:cNvPr>
          <p:cNvSpPr>
            <a:spLocks noGrp="1"/>
          </p:cNvSpPr>
          <p:nvPr/>
        </p:nvSpPr>
        <p:spPr>
          <a:xfrm>
            <a:off x="0" y="2478822"/>
            <a:ext cx="9144000" cy="92928"/>
          </a:xfrm>
          <a:prstGeom prst="rect">
            <a:avLst/>
          </a:prstGeom>
          <a:solidFill>
            <a:srgbClr val="A7A9AC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450" b="0" i="0" u="none" cap="none">
              <a:solidFill>
                <a:schemeClr val="l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8" name="Google Shape;18;p48">
            <a:extLst>
              <a:ext uri="{FF2B5EF4-FFF2-40B4-BE49-F238E27FC236}">
                <a16:creationId xmlns:a16="http://schemas.microsoft.com/office/drawing/2014/main" id="{35E7C239-608D-4DD5-A62A-56B811ADD84B}"/>
              </a:ext>
            </a:extLst>
          </p:cNvPr>
          <p:cNvSpPr>
            <a:spLocks noGrp="1"/>
          </p:cNvSpPr>
          <p:nvPr/>
        </p:nvSpPr>
        <p:spPr>
          <a:xfrm flipH="1">
            <a:off x="-4" y="2478821"/>
            <a:ext cx="295835" cy="92928"/>
          </a:xfrm>
          <a:prstGeom prst="rect">
            <a:avLst/>
          </a:prstGeom>
          <a:solidFill>
            <a:srgbClr val="1C33D7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spcBef>
                <a:spcPts val="0"/>
              </a:spcBef>
              <a:spcAft>
                <a:spcPts val="0"/>
              </a:spcAft>
              <a:buNone/>
            </a:pPr>
            <a:endParaRPr sz="450" b="0" i="0" u="none" cap="none">
              <a:solidFill>
                <a:schemeClr val="l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19" name="Google Shape;19;p48">
            <a:extLst>
              <a:ext uri="{FF2B5EF4-FFF2-40B4-BE49-F238E27FC236}">
                <a16:creationId xmlns:a16="http://schemas.microsoft.com/office/drawing/2014/main" id="{F12F2E44-8395-4D81-9C24-E00B8BC68E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3039035"/>
            <a:ext cx="6858000" cy="8010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>
                <a:solidFill>
                  <a:schemeClr val="dk1"/>
                </a:solidFill>
                <a:latin typeface="Pretendard"/>
                <a:ea typeface="Pretendard"/>
                <a:cs typeface="Pretendard"/>
              </a:defRPr>
            </a:lvl1pPr>
            <a:lvl2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algn="ctr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20" name="Google Shape;20;p48">
            <a:extLst>
              <a:ext uri="{FF2B5EF4-FFF2-40B4-BE49-F238E27FC236}">
                <a16:creationId xmlns:a16="http://schemas.microsoft.com/office/drawing/2014/main" id="{E36057D2-E63D-439D-BA33-7BD0C88E4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1317812"/>
            <a:ext cx="8664388" cy="1080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sz="3000" b="1">
                <a:solidFill>
                  <a:schemeClr val="dk1"/>
                </a:solidFill>
                <a:latin typeface="Pretendard"/>
                <a:ea typeface="Pretendard"/>
                <a:cs typeface="Pretendard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ntents" preserve="1">
  <p:cSld name="1_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4;p122"/>
          <p:cNvPicPr>
            <a:picLocks noChangeAspect="1"/>
          </p:cNvPicPr>
          <p:nvPr/>
        </p:nvPicPr>
        <p:blipFill rotWithShape="1">
          <a:blip r:embed="rId2">
            <a:alphaModFix/>
          </a:blip>
          <a:srcRect l="-124" r="20117"/>
          <a:stretch/>
        </p:blipFill>
        <p:spPr>
          <a:xfrm>
            <a:off x="2985325" y="0"/>
            <a:ext cx="6172590" cy="5143500"/>
          </a:xfrm>
          <a:prstGeom prst="rect">
            <a:avLst/>
          </a:prstGeom>
          <a:ln>
            <a:noFill/>
          </a:ln>
        </p:spPr>
      </p:pic>
      <p:sp>
        <p:nvSpPr>
          <p:cNvPr id="35" name="Google Shape;35;p122">
            <a:extLst>
              <a:ext uri="{FF2B5EF4-FFF2-40B4-BE49-F238E27FC236}">
                <a16:creationId xmlns:a16="http://schemas.microsoft.com/office/drawing/2014/main" id="{41FD7A33-19D5-4B80-B716-7BB0F1821B14}"/>
              </a:ext>
            </a:extLst>
          </p:cNvPr>
          <p:cNvSpPr>
            <a:spLocks noGrp="1"/>
          </p:cNvSpPr>
          <p:nvPr/>
        </p:nvSpPr>
        <p:spPr>
          <a:xfrm>
            <a:off x="242421" y="0"/>
            <a:ext cx="6747850" cy="5143500"/>
          </a:xfrm>
          <a:prstGeom prst="rect">
            <a:avLst/>
          </a:prstGeom>
          <a:gradFill>
            <a:gsLst>
              <a:gs pos="0">
                <a:schemeClr val="lt1"/>
              </a:gs>
              <a:gs pos="52999">
                <a:srgbClr val="FFFFFF"/>
              </a:gs>
              <a:gs pos="77252">
                <a:srgbClr val="FFFFFF">
                  <a:alpha val="69019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62200" tIns="31075" rIns="62200" bIns="3107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25"/>
              <a:buFont typeface="Calibri"/>
              <a:buNone/>
            </a:pPr>
            <a:endParaRPr sz="1225" b="0" i="0" u="none" cap="none">
              <a:solidFill>
                <a:schemeClr val="lt1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36" name="Google Shape;36;p122">
            <a:extLst>
              <a:ext uri="{FF2B5EF4-FFF2-40B4-BE49-F238E27FC236}">
                <a16:creationId xmlns:a16="http://schemas.microsoft.com/office/drawing/2014/main" id="{11F9BF0B-277F-43D1-9C2B-A66F054FF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926" y="1959759"/>
            <a:ext cx="6055018" cy="547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AAB"/>
              </a:buClr>
              <a:buSzPts val="4400"/>
              <a:buFont typeface="Arial"/>
              <a:buNone/>
              <a:defRPr sz="2994">
                <a:solidFill>
                  <a:srgbClr val="032C69"/>
                </a:solidFill>
                <a:latin typeface="Pretendard"/>
                <a:ea typeface="Pretendard"/>
                <a:cs typeface="Pretendard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22">
            <a:extLst>
              <a:ext uri="{FF2B5EF4-FFF2-40B4-BE49-F238E27FC236}">
                <a16:creationId xmlns:a16="http://schemas.microsoft.com/office/drawing/2014/main" id="{F7A72774-140C-4CE4-8900-E9C29E92CFBD}"/>
              </a:ext>
            </a:extLst>
          </p:cNvPr>
          <p:cNvSpPr>
            <a:spLocks noGrp="1"/>
          </p:cNvSpPr>
          <p:nvPr/>
        </p:nvSpPr>
        <p:spPr>
          <a:xfrm flipH="1">
            <a:off x="454526" y="1442233"/>
            <a:ext cx="45719" cy="396092"/>
          </a:xfrm>
          <a:prstGeom prst="rect">
            <a:avLst/>
          </a:prstGeom>
          <a:solidFill>
            <a:srgbClr val="1C33D7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endParaRPr sz="600" b="0" i="0" u="none" cap="none">
              <a:solidFill>
                <a:schemeClr val="lt1"/>
              </a:solidFill>
              <a:latin typeface="Pretendard"/>
              <a:ea typeface="Pretendard"/>
              <a:cs typeface="Pretendar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및 내용" preserve="1" userDrawn="1">
  <p:cSld name="4_제목 및 내용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3">
            <a:extLst>
              <a:ext uri="{FF2B5EF4-FFF2-40B4-BE49-F238E27FC236}">
                <a16:creationId xmlns:a16="http://schemas.microsoft.com/office/drawing/2014/main" id="{628178C8-0C1D-47BA-A465-86D0528C0F9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228600" y="886374"/>
            <a:ext cx="8686800" cy="397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E42F2"/>
              </a:buClr>
              <a:buSzPts val="1800"/>
              <a:buNone/>
              <a:defRPr sz="1800">
                <a:solidFill>
                  <a:srgbClr val="1C33D7"/>
                </a:solidFill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45;p53">
            <a:extLst>
              <a:ext uri="{FF2B5EF4-FFF2-40B4-BE49-F238E27FC236}">
                <a16:creationId xmlns:a16="http://schemas.microsoft.com/office/drawing/2014/main" id="{1C9D1BA1-FFB8-496B-BEF1-C1A73539146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2489" y="309630"/>
            <a:ext cx="8062912" cy="442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0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45;p53">
            <a:extLst>
              <a:ext uri="{FF2B5EF4-FFF2-40B4-BE49-F238E27FC236}">
                <a16:creationId xmlns:a16="http://schemas.microsoft.com/office/drawing/2014/main" id="{B73EF395-37C0-41FB-9B33-AF6CD758C3A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28601" y="0"/>
            <a:ext cx="5426074" cy="25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05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C32BCFA6-5015-4953-A38A-D9C1BB51491B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89154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5362DA82-7B0E-437A-B743-10E5FD5635C9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557214" cy="0"/>
          </a:xfrm>
          <a:prstGeom prst="line">
            <a:avLst/>
          </a:prstGeom>
          <a:ln w="19050">
            <a:solidFill>
              <a:srgbClr val="1C33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5" name="Google Shape;45;p53">
            <a:extLst>
              <a:ext uri="{FF2B5EF4-FFF2-40B4-BE49-F238E27FC236}">
                <a16:creationId xmlns:a16="http://schemas.microsoft.com/office/drawing/2014/main" id="{8E224373-46FB-4A4A-BF1C-839D40E5CF1F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28602" y="309630"/>
            <a:ext cx="557212" cy="44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t>01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EB9A4DDD-2C73-4F5E-8876-AFAEE3E8698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28600" y="1350755"/>
            <a:ext cx="8686800" cy="3499152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및 내용" preserve="1" userDrawn="1">
  <p:cSld name="4_제목 및 내용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4D76AC6D-1350-4296-84C6-1F84BAAD9436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89154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2" name="Google Shape;45;p53">
            <a:extLst>
              <a:ext uri="{FF2B5EF4-FFF2-40B4-BE49-F238E27FC236}">
                <a16:creationId xmlns:a16="http://schemas.microsoft.com/office/drawing/2014/main" id="{D2478373-F71F-BE36-909E-B58EC9F46D7B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28602" y="309630"/>
            <a:ext cx="557212" cy="44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t>01</a:t>
            </a:r>
          </a:p>
        </p:txBody>
      </p:sp>
      <p:sp>
        <p:nvSpPr>
          <p:cNvPr id="3" name="Google Shape;45;p53">
            <a:extLst>
              <a:ext uri="{FF2B5EF4-FFF2-40B4-BE49-F238E27FC236}">
                <a16:creationId xmlns:a16="http://schemas.microsoft.com/office/drawing/2014/main" id="{1D53C091-B499-8EF9-3098-3941891BC655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28601" y="0"/>
            <a:ext cx="5426074" cy="25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05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" name="Google Shape;45;p53">
            <a:extLst>
              <a:ext uri="{FF2B5EF4-FFF2-40B4-BE49-F238E27FC236}">
                <a16:creationId xmlns:a16="http://schemas.microsoft.com/office/drawing/2014/main" id="{502B85E3-9C24-9E94-1C2C-A8334653566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2489" y="309630"/>
            <a:ext cx="8062912" cy="442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0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" name="Google Shape;46;p53">
            <a:extLst>
              <a:ext uri="{FF2B5EF4-FFF2-40B4-BE49-F238E27FC236}">
                <a16:creationId xmlns:a16="http://schemas.microsoft.com/office/drawing/2014/main" id="{27C425B0-22C8-6E1F-8BCA-C6272FD6F4BF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228600" y="888855"/>
            <a:ext cx="8686800" cy="3974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E42F2"/>
              </a:buClr>
              <a:buSzPts val="1800"/>
              <a:buNone/>
              <a:defRPr sz="1800">
                <a:solidFill>
                  <a:srgbClr val="1C33D7"/>
                </a:solidFill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" name="직선 연결선 7">
            <a:extLst>
              <a:ext uri="{FF2B5EF4-FFF2-40B4-BE49-F238E27FC236}">
                <a16:creationId xmlns:a16="http://schemas.microsoft.com/office/drawing/2014/main" id="{47D68489-3180-45A1-9D6C-0BE0DB85916D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557214" cy="0"/>
          </a:xfrm>
          <a:prstGeom prst="line">
            <a:avLst/>
          </a:prstGeom>
          <a:ln w="19050">
            <a:solidFill>
              <a:srgbClr val="1C33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및 내용" preserve="1" userDrawn="1">
  <p:cSld name="4_제목 및 내용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0B12397A-E157-4E4C-98C4-C778F5214BA1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89154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5ED3CF82-7785-4C6B-88AD-6D3776DCEB0F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557214" cy="0"/>
          </a:xfrm>
          <a:prstGeom prst="line">
            <a:avLst/>
          </a:prstGeom>
          <a:ln w="19050">
            <a:solidFill>
              <a:srgbClr val="1C33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Google Shape;45;p53">
            <a:extLst>
              <a:ext uri="{FF2B5EF4-FFF2-40B4-BE49-F238E27FC236}">
                <a16:creationId xmlns:a16="http://schemas.microsoft.com/office/drawing/2014/main" id="{86A21064-A5BA-7C63-7040-4B88065F4B14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28602" y="309630"/>
            <a:ext cx="557212" cy="44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t>01</a:t>
            </a:r>
          </a:p>
        </p:txBody>
      </p:sp>
      <p:sp>
        <p:nvSpPr>
          <p:cNvPr id="7" name="Google Shape;45;p53">
            <a:extLst>
              <a:ext uri="{FF2B5EF4-FFF2-40B4-BE49-F238E27FC236}">
                <a16:creationId xmlns:a16="http://schemas.microsoft.com/office/drawing/2014/main" id="{75005191-45E5-90D0-E781-B38141FEE62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28601" y="0"/>
            <a:ext cx="5426074" cy="25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05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" name="Google Shape;45;p53">
            <a:extLst>
              <a:ext uri="{FF2B5EF4-FFF2-40B4-BE49-F238E27FC236}">
                <a16:creationId xmlns:a16="http://schemas.microsoft.com/office/drawing/2014/main" id="{A42F1763-1822-6C1F-E2B6-B7C69394165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2489" y="309630"/>
            <a:ext cx="8062912" cy="442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0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801DA4-C374-0092-D74B-B611B22EA4A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28600" y="886375"/>
            <a:ext cx="8686800" cy="3963532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및 내용" preserve="1" userDrawn="1">
  <p:cSld name="4_제목 및 내용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79513BCC-25C5-47F2-A47B-C6A9E438387F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89154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7592DEFA-A1BE-47C5-A442-317189B73D93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557214" cy="0"/>
          </a:xfrm>
          <a:prstGeom prst="line">
            <a:avLst/>
          </a:prstGeom>
          <a:ln w="19050">
            <a:solidFill>
              <a:srgbClr val="1C33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Google Shape;45;p53">
            <a:extLst>
              <a:ext uri="{FF2B5EF4-FFF2-40B4-BE49-F238E27FC236}">
                <a16:creationId xmlns:a16="http://schemas.microsoft.com/office/drawing/2014/main" id="{86A21064-A5BA-7C63-7040-4B88065F4B14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28602" y="309630"/>
            <a:ext cx="557212" cy="44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t>01</a:t>
            </a:r>
          </a:p>
        </p:txBody>
      </p:sp>
      <p:sp>
        <p:nvSpPr>
          <p:cNvPr id="7" name="Google Shape;45;p53">
            <a:extLst>
              <a:ext uri="{FF2B5EF4-FFF2-40B4-BE49-F238E27FC236}">
                <a16:creationId xmlns:a16="http://schemas.microsoft.com/office/drawing/2014/main" id="{75005191-45E5-90D0-E781-B38141FEE62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28601" y="0"/>
            <a:ext cx="5426074" cy="25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05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" name="Google Shape;45;p53">
            <a:extLst>
              <a:ext uri="{FF2B5EF4-FFF2-40B4-BE49-F238E27FC236}">
                <a16:creationId xmlns:a16="http://schemas.microsoft.com/office/drawing/2014/main" id="{A42F1763-1822-6C1F-E2B6-B7C69394165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2489" y="309630"/>
            <a:ext cx="8062912" cy="442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0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801DA4-C374-0092-D74B-B611B22EA4A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28600" y="886375"/>
            <a:ext cx="4264742" cy="3963532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51397CC-EBCD-4356-B789-3536B9336FE8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656803" y="886375"/>
            <a:ext cx="4264742" cy="3963532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제목 및 내용" preserve="1" userDrawn="1">
  <p:cSld name="4_제목 및 내용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선 연결선 4">
            <a:extLst>
              <a:ext uri="{FF2B5EF4-FFF2-40B4-BE49-F238E27FC236}">
                <a16:creationId xmlns:a16="http://schemas.microsoft.com/office/drawing/2014/main" id="{AE954E11-3A86-429D-A400-B1A803CCB8D7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89154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1" name="직선 연결선 10">
            <a:extLst>
              <a:ext uri="{FF2B5EF4-FFF2-40B4-BE49-F238E27FC236}">
                <a16:creationId xmlns:a16="http://schemas.microsoft.com/office/drawing/2014/main" id="{B1477424-1BDF-46CB-B081-33D20BBAFF35}"/>
              </a:ext>
            </a:extLst>
          </p:cNvPr>
          <p:cNvSpPr>
            <a:spLocks noGrp="1"/>
          </p:cNvSpPr>
          <p:nvPr/>
        </p:nvSpPr>
        <p:spPr>
          <a:xfrm>
            <a:off x="228600" y="819413"/>
            <a:ext cx="557214" cy="0"/>
          </a:xfrm>
          <a:prstGeom prst="line">
            <a:avLst/>
          </a:prstGeom>
          <a:ln w="19050">
            <a:solidFill>
              <a:srgbClr val="1C33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6" name="Google Shape;45;p53">
            <a:extLst>
              <a:ext uri="{FF2B5EF4-FFF2-40B4-BE49-F238E27FC236}">
                <a16:creationId xmlns:a16="http://schemas.microsoft.com/office/drawing/2014/main" id="{86A21064-A5BA-7C63-7040-4B88065F4B14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228602" y="309630"/>
            <a:ext cx="557212" cy="442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t>01</a:t>
            </a:r>
          </a:p>
        </p:txBody>
      </p:sp>
      <p:sp>
        <p:nvSpPr>
          <p:cNvPr id="7" name="Google Shape;45;p53">
            <a:extLst>
              <a:ext uri="{FF2B5EF4-FFF2-40B4-BE49-F238E27FC236}">
                <a16:creationId xmlns:a16="http://schemas.microsoft.com/office/drawing/2014/main" id="{75005191-45E5-90D0-E781-B38141FEE62B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228601" y="0"/>
            <a:ext cx="5426074" cy="257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05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" name="Google Shape;45;p53">
            <a:extLst>
              <a:ext uri="{FF2B5EF4-FFF2-40B4-BE49-F238E27FC236}">
                <a16:creationId xmlns:a16="http://schemas.microsoft.com/office/drawing/2014/main" id="{A42F1763-1822-6C1F-E2B6-B7C69394165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2489" y="309630"/>
            <a:ext cx="8062912" cy="442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000"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40801DA4-C374-0092-D74B-B611B22EA4A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28600" y="1314582"/>
            <a:ext cx="4264742" cy="3535325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51397CC-EBCD-4356-B789-3536B9336FE8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656803" y="1314582"/>
            <a:ext cx="4264742" cy="3535325"/>
          </a:xfrm>
        </p:spPr>
        <p:txBody>
          <a:bodyPr>
            <a:normAutofit/>
          </a:bodyPr>
          <a:lstStyle>
            <a:lvl1pPr marL="457200" indent="-317500">
              <a:buClr>
                <a:srgbClr val="1C33D7"/>
              </a:buClr>
              <a:buFont typeface="Wingdings"/>
              <a:buChar char="§"/>
              <a:defRPr sz="1400">
                <a:latin typeface="Pretendard"/>
                <a:ea typeface="Pretendard"/>
                <a:cs typeface="Pretendard"/>
              </a:defRPr>
            </a:lvl1pPr>
            <a:lvl2pPr marL="914400" indent="-304800">
              <a:buClr>
                <a:srgbClr val="1C33D7"/>
              </a:buClr>
              <a:buSzPct val="80000"/>
              <a:buFont typeface="Wingdings"/>
              <a:buChar char="ü"/>
              <a:defRPr sz="1400">
                <a:latin typeface="Pretendard"/>
                <a:ea typeface="Pretendard"/>
                <a:cs typeface="Pretendard"/>
              </a:defRPr>
            </a:lvl2pPr>
            <a:lvl3pPr marL="1371600" indent="-292100">
              <a:buClr>
                <a:srgbClr val="1C33D7"/>
              </a:buClr>
              <a:buFont typeface="Pretendard"/>
              <a:buChar char=""/>
              <a:defRPr sz="1200">
                <a:latin typeface="Pretendard"/>
                <a:ea typeface="Pretendard"/>
                <a:cs typeface="Pretendard"/>
              </a:defRPr>
            </a:lvl3pPr>
            <a:lvl4pPr marL="18288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4pPr>
            <a:lvl5pPr marL="2286000" indent="-285750">
              <a:buClr>
                <a:srgbClr val="A7A9AC"/>
              </a:buClr>
              <a:buSzPct val="100000"/>
              <a:buFont typeface="Pretendard"/>
              <a:buChar char="−"/>
              <a:defRPr sz="1200">
                <a:latin typeface="Pretendard"/>
                <a:ea typeface="Pretendard"/>
                <a:cs typeface="Pretendard"/>
              </a:defRPr>
            </a:lvl5pPr>
          </a:lstStyle>
          <a:p>
            <a:pPr lvl="0">
              <a:buNone/>
            </a:pPr>
            <a:r>
              <a:t>마스터 텍스트 스타일 편집</a:t>
            </a:r>
          </a:p>
          <a:p>
            <a:pPr lvl="1">
              <a:buNone/>
            </a:pPr>
            <a:r>
              <a:t>둘째 수준</a:t>
            </a:r>
          </a:p>
          <a:p>
            <a:pPr lvl="2">
              <a:buNone/>
            </a:pPr>
            <a:r>
              <a:t>셋째 수준</a:t>
            </a:r>
          </a:p>
          <a:p>
            <a:pPr lvl="3">
              <a:buNone/>
            </a:pPr>
            <a:r>
              <a:t>넷째 수준</a:t>
            </a:r>
          </a:p>
          <a:p>
            <a:pPr lvl="4">
              <a:buNone/>
            </a:pPr>
            <a:r>
              <a:t>다섯째 수준</a:t>
            </a:r>
          </a:p>
        </p:txBody>
      </p:sp>
      <p:sp>
        <p:nvSpPr>
          <p:cNvPr id="12" name="Google Shape;46;p53">
            <a:extLst>
              <a:ext uri="{FF2B5EF4-FFF2-40B4-BE49-F238E27FC236}">
                <a16:creationId xmlns:a16="http://schemas.microsoft.com/office/drawing/2014/main" id="{E72317DA-EFCD-4EDC-BD70-72149DF59CD0}"/>
              </a:ext>
            </a:extLst>
          </p:cNvPr>
          <p:cNvSpPr>
            <a:spLocks noGrp="1"/>
          </p:cNvSpPr>
          <p:nvPr>
            <p:ph type="body" idx="17"/>
          </p:nvPr>
        </p:nvSpPr>
        <p:spPr>
          <a:xfrm>
            <a:off x="228600" y="888856"/>
            <a:ext cx="4264742" cy="358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E42F2"/>
              </a:buClr>
              <a:buSzPts val="1800"/>
              <a:buNone/>
              <a:defRPr sz="1400">
                <a:solidFill>
                  <a:srgbClr val="1C33D7"/>
                </a:solidFill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" name="Google Shape;46;p53">
            <a:extLst>
              <a:ext uri="{FF2B5EF4-FFF2-40B4-BE49-F238E27FC236}">
                <a16:creationId xmlns:a16="http://schemas.microsoft.com/office/drawing/2014/main" id="{1A8DA244-9AB4-45B7-B21C-4BE6E2B6DA3A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4650658" y="888856"/>
            <a:ext cx="4264742" cy="358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E42F2"/>
              </a:buClr>
              <a:buSzPts val="1800"/>
              <a:buNone/>
              <a:defRPr sz="1400">
                <a:solidFill>
                  <a:srgbClr val="1C33D7"/>
                </a:solidFill>
                <a:latin typeface="Pretendard"/>
                <a:ea typeface="Pretendard"/>
                <a:cs typeface="Pretendard"/>
              </a:defRPr>
            </a:lvl1pPr>
            <a:lvl2pPr marL="914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7">
            <a:extLst>
              <a:ext uri="{FF2B5EF4-FFF2-40B4-BE49-F238E27FC236}">
                <a16:creationId xmlns:a16="http://schemas.microsoft.com/office/drawing/2014/main" id="{EFCEFE2F-F68F-4691-B0B7-912E08340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47">
            <a:extLst>
              <a:ext uri="{FF2B5EF4-FFF2-40B4-BE49-F238E27FC236}">
                <a16:creationId xmlns:a16="http://schemas.microsoft.com/office/drawing/2014/main" id="{1F9A8FC1-4564-4372-8923-CB2A22B5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marR="0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marR="0" indent="-3048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marR="0" indent="-29210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285750" algn="l">
              <a:lnSpc>
                <a:spcPct val="90000"/>
              </a:lnSpc>
              <a:spcBef>
                <a:spcPts val="25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2" name="Google Shape;12;p47">
            <a:extLst>
              <a:ext uri="{FF2B5EF4-FFF2-40B4-BE49-F238E27FC236}">
                <a16:creationId xmlns:a16="http://schemas.microsoft.com/office/drawing/2014/main" id="{2602D824-9A9D-47B2-9B79-4F723863ED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cap="none">
                <a:solidFill>
                  <a:srgbClr val="888888"/>
                </a:solidFill>
                <a:latin typeface="Pretendard"/>
                <a:ea typeface="Pretendard"/>
                <a:cs typeface="Pretendard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3" name="Google Shape;13;p47">
            <a:extLst>
              <a:ext uri="{FF2B5EF4-FFF2-40B4-BE49-F238E27FC236}">
                <a16:creationId xmlns:a16="http://schemas.microsoft.com/office/drawing/2014/main" id="{DAC6837A-FA1E-421E-B70B-5D502E46660D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cap="none">
                <a:solidFill>
                  <a:srgbClr val="888888"/>
                </a:solidFill>
                <a:latin typeface="Pretendard"/>
                <a:ea typeface="Pretendard"/>
                <a:cs typeface="Pretendard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  <p:sp>
        <p:nvSpPr>
          <p:cNvPr id="14" name="Google Shape;14;p47">
            <a:extLst>
              <a:ext uri="{FF2B5EF4-FFF2-40B4-BE49-F238E27FC236}">
                <a16:creationId xmlns:a16="http://schemas.microsoft.com/office/drawing/2014/main" id="{9CCB5C58-F8DA-4750-972A-9DC261225E5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Pretendard"/>
                <a:ea typeface="Pretendard"/>
                <a:cs typeface="Pretendard"/>
              </a:defRPr>
            </a:lvl1pPr>
            <a:lvl2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spcBef>
                <a:spcPts val="0"/>
              </a:spcBef>
              <a:buNone/>
              <a:defRPr sz="600" b="0" i="0" u="none" cap="none">
                <a:solidFill>
                  <a:srgbClr val="888888"/>
                </a:solidFill>
                <a:latin typeface="Arial"/>
                <a:ea typeface="Arial"/>
                <a:cs typeface="Arial"/>
              </a:defRPr>
            </a:lvl9pPr>
          </a:lstStyle>
          <a:p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Pretendard"/>
          <a:ea typeface="Pretendard"/>
          <a:cs typeface="Pretendard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Pretendard"/>
          <a:ea typeface="Pretendard"/>
          <a:cs typeface="Pretendard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">
            <a:extLst>
              <a:ext uri="{FF2B5EF4-FFF2-40B4-BE49-F238E27FC236}">
                <a16:creationId xmlns:a16="http://schemas.microsoft.com/office/drawing/2014/main" id="{1BE4F260-B25C-4732-92A2-5C5D0A0A6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719" y="3331361"/>
            <a:ext cx="4419600" cy="1241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indent="0" algn="ctr"/>
            <a:r>
              <a:rPr lang="ko-KR" altLang="en-US">
                <a:solidFill>
                  <a:schemeClr val="tx1"/>
                </a:solidFill>
              </a:rPr>
              <a:t>김소연 </a:t>
            </a:r>
            <a:endParaRPr lang="en-US">
              <a:solidFill>
                <a:schemeClr val="tx1"/>
              </a:solidFill>
            </a:endParaRPr>
          </a:p>
          <a:p>
            <a:pPr marL="0" indent="0" algn="ctr"/>
            <a:r>
              <a:rPr lang="ko-KR" altLang="en-US">
                <a:solidFill>
                  <a:schemeClr val="tx1"/>
                </a:solidFill>
              </a:rPr>
              <a:t>피부마이크로바이옴 연구실 </a:t>
            </a:r>
            <a:endParaRPr lang="en-US" altLang="ko-KR">
              <a:solidFill>
                <a:schemeClr val="tx1"/>
              </a:solidFill>
            </a:endParaRPr>
          </a:p>
          <a:p>
            <a:pPr marL="0" indent="0" algn="ctr"/>
            <a:r>
              <a:rPr lang="en-US">
                <a:solidFill>
                  <a:schemeClr val="tx1"/>
                </a:solidFill>
              </a:rPr>
              <a:t>202</a:t>
            </a:r>
            <a:r>
              <a:rPr lang="en-US" altLang="ko-KR">
                <a:solidFill>
                  <a:schemeClr val="tx1"/>
                </a:solidFill>
              </a:rPr>
              <a:t>6</a:t>
            </a:r>
            <a:r>
              <a:rPr lang="en-US">
                <a:solidFill>
                  <a:schemeClr val="tx1"/>
                </a:solidFill>
              </a:rPr>
              <a:t>/0</a:t>
            </a:r>
            <a:r>
              <a:rPr lang="en-US" altLang="ko-KR">
                <a:solidFill>
                  <a:schemeClr val="tx1"/>
                </a:solidFill>
              </a:rPr>
              <a:t>8</a:t>
            </a:r>
            <a:r>
              <a:rPr lang="en-US">
                <a:solidFill>
                  <a:schemeClr val="tx1"/>
                </a:solidFill>
              </a:rPr>
              <a:t>/</a:t>
            </a:r>
            <a:r>
              <a:rPr lang="en-US" altLang="ko-KR">
                <a:solidFill>
                  <a:schemeClr val="tx1"/>
                </a:solidFill>
              </a:rPr>
              <a:t>25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67" name="Google Shape;67;p1">
            <a:extLst>
              <a:ext uri="{FF2B5EF4-FFF2-40B4-BE49-F238E27FC236}">
                <a16:creationId xmlns:a16="http://schemas.microsoft.com/office/drawing/2014/main" id="{AEEF64D1-26BF-4AEF-84AD-A3BF9C73F8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7040" y="570714"/>
            <a:ext cx="8836959" cy="1789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/>
          <a:p>
            <a:pPr lvl="0" algn="ctr">
              <a:lnSpc>
                <a:spcPct val="100000"/>
              </a:lnSpc>
              <a:buNone/>
            </a:pPr>
            <a:r>
              <a:rPr sz="3200">
                <a:solidFill>
                  <a:srgbClr val="1C33D7"/>
                </a:solidFill>
              </a:rPr>
              <a:t>DT Swab 재분석 결과 및 논문 보강안</a:t>
            </a:r>
            <a:endParaRPr sz="32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657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01/  기존 논문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연구 질문과 목적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ko-KR" altLang="en-US" b="1"/>
              <a:t>기존 논문의 목적 </a:t>
            </a:r>
            <a:endParaRPr lang="en-US" altLang="ko-KR" b="1"/>
          </a:p>
          <a:p>
            <a:pPr lvl="1"/>
            <a:r>
              <a:rPr lang="ko-KR" altLang="en-US"/>
              <a:t>동일한 </a:t>
            </a:r>
            <a:r>
              <a:rPr lang="en-US"/>
              <a:t>participant</a:t>
            </a:r>
            <a:r>
              <a:rPr lang="ko-KR" altLang="en-US"/>
              <a:t>의 </a:t>
            </a:r>
            <a:r>
              <a:rPr lang="en-US"/>
              <a:t>antecubital fossa</a:t>
            </a:r>
            <a:r>
              <a:rPr lang="ko-KR" altLang="en-US"/>
              <a:t>와 </a:t>
            </a:r>
            <a:r>
              <a:rPr lang="en-US"/>
              <a:t>forehead</a:t>
            </a:r>
            <a:r>
              <a:rPr lang="ko-KR" altLang="en-US"/>
              <a:t>에서 </a:t>
            </a:r>
            <a:r>
              <a:rPr lang="en-US" altLang="ko-KR"/>
              <a:t>5</a:t>
            </a:r>
            <a:r>
              <a:rPr lang="ko-KR" altLang="en-US"/>
              <a:t>개 </a:t>
            </a:r>
            <a:r>
              <a:rPr lang="en-US"/>
              <a:t>sampling  system </a:t>
            </a:r>
            <a:r>
              <a:rPr lang="ko-KR" altLang="en-US"/>
              <a:t>비교</a:t>
            </a:r>
            <a:endParaRPr lang="en-US" altLang="ko-KR"/>
          </a:p>
          <a:p>
            <a:pPr lvl="1"/>
            <a:endParaRPr lang="en-US" altLang="ko-KR"/>
          </a:p>
          <a:p>
            <a:r>
              <a:rPr lang="ko-KR" altLang="en-US" b="1"/>
              <a:t>실험 디자인 </a:t>
            </a:r>
            <a:endParaRPr lang="en-US" altLang="ko-KR" b="1"/>
          </a:p>
          <a:p>
            <a:pPr lvl="1"/>
            <a:r>
              <a:rPr lang="en-US" altLang="ko-KR"/>
              <a:t>5</a:t>
            </a:r>
            <a:r>
              <a:rPr lang="ko-KR" altLang="en-US"/>
              <a:t>명의 </a:t>
            </a:r>
            <a:r>
              <a:rPr lang="en-US" altLang="ko-KR"/>
              <a:t>(</a:t>
            </a:r>
            <a:r>
              <a:rPr lang="ko-KR" altLang="en-US"/>
              <a:t>건강인</a:t>
            </a:r>
            <a:r>
              <a:rPr lang="en-US" altLang="ko-KR"/>
              <a:t>) </a:t>
            </a:r>
            <a:r>
              <a:rPr lang="ko-KR" altLang="en-US"/>
              <a:t>대상자의 </a:t>
            </a:r>
            <a:r>
              <a:rPr lang="en-US" altLang="ko-KR"/>
              <a:t>Sebaceous (Forehead)/ Dry (Antecubital fossa) </a:t>
            </a:r>
            <a:r>
              <a:rPr lang="ko-KR" altLang="en-US"/>
              <a:t>부위를 기반으로 </a:t>
            </a:r>
            <a:r>
              <a:rPr lang="en-US" altLang="ko-KR"/>
              <a:t>5</a:t>
            </a:r>
            <a:r>
              <a:rPr lang="ko-KR" altLang="en-US"/>
              <a:t>개의 샘플 추출 방법 비교 </a:t>
            </a:r>
            <a:endParaRPr lang="en-US" altLang="ko-KR"/>
          </a:p>
          <a:p>
            <a:pPr lvl="1"/>
            <a:endParaRPr lang="en-US" altLang="ko-KR"/>
          </a:p>
          <a:p>
            <a:r>
              <a:rPr lang="ko-KR" altLang="en-US" b="1"/>
              <a:t>샘플 추출 방법 </a:t>
            </a:r>
            <a:endParaRPr lang="en-US" altLang="ko-KR" b="1"/>
          </a:p>
          <a:p>
            <a:pPr lvl="1"/>
            <a:r>
              <a:rPr lang="en-US" altLang="ko-KR"/>
              <a:t>1. Copan + Gell</a:t>
            </a:r>
          </a:p>
          <a:p>
            <a:pPr lvl="1"/>
            <a:r>
              <a:rPr lang="en-US" altLang="ko-KR"/>
              <a:t>2. Puritan + Gell</a:t>
            </a:r>
          </a:p>
          <a:p>
            <a:pPr lvl="1"/>
            <a:r>
              <a:rPr lang="en-US" altLang="ko-KR"/>
              <a:t>3. Puritan + Buffer </a:t>
            </a:r>
          </a:p>
          <a:p>
            <a:pPr lvl="1"/>
            <a:r>
              <a:rPr lang="en-US" altLang="ko-KR"/>
              <a:t>4. Omni + SDS</a:t>
            </a:r>
          </a:p>
          <a:p>
            <a:pPr lvl="1"/>
            <a:r>
              <a:rPr lang="en-US" altLang="ko-KR"/>
              <a:t>5. E-Swab + Transport Medium </a:t>
            </a:r>
          </a:p>
          <a:p>
            <a:pPr lvl="1"/>
            <a:endParaRPr lang="en-US" altLang="ko-KR"/>
          </a:p>
          <a:p>
            <a:r>
              <a:rPr lang="ko-KR" altLang="en-US" b="1"/>
              <a:t>공통 채취 방법 </a:t>
            </a:r>
            <a:endParaRPr lang="en-US" altLang="ko-KR" b="1"/>
          </a:p>
          <a:p>
            <a:pPr lvl="1"/>
            <a:r>
              <a:rPr lang="en-US" altLang="ko-KR"/>
              <a:t>20s</a:t>
            </a:r>
            <a:r>
              <a:rPr lang="ko-KR" altLang="en-US"/>
              <a:t>간 샘플링</a:t>
            </a:r>
            <a:endParaRPr lang="en-US" altLang="ko-KR"/>
          </a:p>
          <a:p>
            <a:pPr lvl="1"/>
            <a:r>
              <a:rPr lang="en-US" altLang="ko-KR"/>
              <a:t>Air Control </a:t>
            </a:r>
            <a:r>
              <a:rPr lang="ko-KR" altLang="en-US"/>
              <a:t>추가 수집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945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01/  기존 논문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기존 결과: sampling system보다 참여자와 부위의 영향이 더 큼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66700" y="1104899"/>
            <a:ext cx="5527518" cy="3476625"/>
          </a:xfrm>
        </p:spPr>
        <p:txBody>
          <a:bodyPr/>
          <a:lstStyle/>
          <a:p>
            <a:r>
              <a:rPr lang="ko-KR" altLang="en-US"/>
              <a:t>기존 논문의 주요 결론 </a:t>
            </a:r>
            <a:endParaRPr lang="en-US" altLang="ko-KR"/>
          </a:p>
          <a:p>
            <a:pPr lvl="1"/>
            <a:r>
              <a:rPr lang="en-US" sz="1200"/>
              <a:t>sampling system </a:t>
            </a:r>
            <a:r>
              <a:rPr lang="ko-KR" altLang="en-US" sz="1200"/>
              <a:t>간 </a:t>
            </a:r>
            <a:r>
              <a:rPr lang="en-US" sz="1200"/>
              <a:t>alpha-diversity </a:t>
            </a:r>
            <a:r>
              <a:rPr lang="ko-KR" altLang="en-US" sz="1200"/>
              <a:t>차이  </a:t>
            </a:r>
            <a:r>
              <a:rPr lang="ko-KR" altLang="en-US" sz="1200" u="sng"/>
              <a:t>유의하지 않음 </a:t>
            </a:r>
          </a:p>
          <a:p>
            <a:pPr lvl="2"/>
            <a:r>
              <a:rPr lang="en-US" altLang="ko-KR" sz="1100" i="1"/>
              <a:t>=&gt; </a:t>
            </a:r>
            <a:r>
              <a:rPr lang="ko-KR" altLang="en-US" sz="1100" i="1"/>
              <a:t>다양성 보존 측면에서는 </a:t>
            </a:r>
            <a:r>
              <a:rPr lang="en-US" altLang="ko-KR" sz="1100" i="1"/>
              <a:t>5</a:t>
            </a:r>
            <a:r>
              <a:rPr lang="ko-KR" altLang="en-US" sz="1100" i="1"/>
              <a:t>개의 샘플링 시스템이 유사</a:t>
            </a:r>
            <a:endParaRPr lang="en-US" altLang="ko-KR" sz="1100" i="1"/>
          </a:p>
          <a:p>
            <a:pPr lvl="2"/>
            <a:endParaRPr lang="en-US" sz="1100"/>
          </a:p>
          <a:p>
            <a:pPr lvl="1"/>
            <a:r>
              <a:rPr lang="en-US" sz="1200"/>
              <a:t>Sampling system </a:t>
            </a:r>
            <a:r>
              <a:rPr lang="ko-KR" altLang="en-US" sz="1200"/>
              <a:t>간 </a:t>
            </a:r>
            <a:r>
              <a:rPr lang="en-US" altLang="ko-KR" sz="1200"/>
              <a:t>beta-diversity </a:t>
            </a:r>
            <a:r>
              <a:rPr lang="ko-KR" altLang="en-US" sz="1200"/>
              <a:t>를 비교하는 </a:t>
            </a:r>
            <a:r>
              <a:rPr lang="en-US" sz="1200" i="1"/>
              <a:t>PERMANOVA </a:t>
            </a:r>
            <a:r>
              <a:rPr lang="ko-KR" altLang="en-US" sz="1200" i="1"/>
              <a:t>유의하지 않음</a:t>
            </a:r>
          </a:p>
          <a:p>
            <a:pPr lvl="2"/>
            <a:r>
              <a:rPr lang="en-US" altLang="ko-KR" sz="1100" i="1"/>
              <a:t>=&gt; </a:t>
            </a:r>
            <a:r>
              <a:rPr lang="ko-KR" altLang="en-US" sz="1100" i="1"/>
              <a:t>미생물 군집의 조성 및 분포에 대해서도 샘플링 시스템간 유사 </a:t>
            </a:r>
            <a:endParaRPr lang="en-US" sz="1100" i="1"/>
          </a:p>
          <a:p>
            <a:pPr lvl="1"/>
            <a:endParaRPr lang="en-US" sz="1200"/>
          </a:p>
          <a:p>
            <a:pPr lvl="1"/>
            <a:r>
              <a:rPr lang="en-US" sz="1200"/>
              <a:t>Participant</a:t>
            </a:r>
            <a:r>
              <a:rPr lang="ko-KR" altLang="en-US" sz="1200"/>
              <a:t>와 </a:t>
            </a:r>
            <a:r>
              <a:rPr lang="en-US" sz="1200"/>
              <a:t>anatomical site</a:t>
            </a:r>
            <a:r>
              <a:rPr lang="ko-KR" altLang="en-US" sz="1200"/>
              <a:t>에 따른 차이가 더 뚜렷함 </a:t>
            </a:r>
            <a:r>
              <a:rPr lang="en-US" altLang="ko-KR" sz="1200"/>
              <a:t>(PERMANOVA)</a:t>
            </a:r>
            <a:endParaRPr lang="ko-KR" altLang="en-US" sz="1200"/>
          </a:p>
          <a:p>
            <a:pPr lvl="2"/>
            <a:r>
              <a:rPr lang="en-US" altLang="ko-KR" sz="1100" i="1"/>
              <a:t> =&gt; </a:t>
            </a:r>
            <a:r>
              <a:rPr lang="ko-KR" altLang="en-US" sz="1100" i="1"/>
              <a:t>가장 중요한 대상자 및 부위에 따른 특성이 더 두드러지게 관찰됨 </a:t>
            </a:r>
            <a:endParaRPr lang="en-US" altLang="ko-KR" sz="1100" i="1"/>
          </a:p>
          <a:p>
            <a:pPr lvl="2"/>
            <a:endParaRPr lang="en-US" altLang="ko-KR" sz="1100"/>
          </a:p>
          <a:p>
            <a:pPr lvl="1"/>
            <a:r>
              <a:rPr lang="ko-KR" altLang="en-US" sz="1200"/>
              <a:t>주요 </a:t>
            </a:r>
            <a:r>
              <a:rPr lang="en-US" sz="1200"/>
              <a:t>bacterial genera</a:t>
            </a:r>
            <a:r>
              <a:rPr lang="ko-KR" altLang="en-US" sz="1200"/>
              <a:t>가 다섯 </a:t>
            </a:r>
            <a:r>
              <a:rPr lang="en-US" sz="1200"/>
              <a:t>syste</a:t>
            </a:r>
            <a:r>
              <a:rPr lang="ko-KR" altLang="en-US" sz="1200"/>
              <a:t>에서 공통으로 검출됨</a:t>
            </a:r>
          </a:p>
          <a:p>
            <a:pPr lvl="2"/>
            <a:r>
              <a:rPr lang="en-US" altLang="ko-KR" sz="1100" i="1"/>
              <a:t>=&gt;  </a:t>
            </a:r>
            <a:r>
              <a:rPr lang="ko-KR" altLang="en-US" sz="1100" i="1"/>
              <a:t>피부 상재균의 수집에 따라서도 큰 차이를 보이지 않음</a:t>
            </a:r>
            <a:endParaRPr lang="en-US" altLang="ko-KR" sz="1100" i="1"/>
          </a:p>
          <a:p>
            <a:pPr lvl="2"/>
            <a:endParaRPr lang="en-US" i="1"/>
          </a:p>
          <a:p>
            <a:r>
              <a:rPr lang="ko-KR" altLang="en-US" i="1"/>
              <a:t>결론적으로</a:t>
            </a:r>
            <a:r>
              <a:rPr lang="en-US" altLang="ko-KR" i="1"/>
              <a:t>, </a:t>
            </a:r>
            <a:r>
              <a:rPr lang="ko-KR" altLang="en-US" i="1"/>
              <a:t>샘플링 시스템간 마이크로바이옴 연구에서 유의한 차이를 보여주지 않았으며</a:t>
            </a:r>
            <a:r>
              <a:rPr lang="en-US" altLang="ko-KR" i="1"/>
              <a:t>, </a:t>
            </a:r>
            <a:r>
              <a:rPr lang="ko-KR" altLang="en-US" i="1"/>
              <a:t>실제적인 샘플 채취에 대한 장단점을 기반으로 서술</a:t>
            </a:r>
            <a:endParaRPr lang="en-US" altLang="ko-KR" i="1"/>
          </a:p>
          <a:p>
            <a:pPr lvl="1"/>
            <a:r>
              <a:rPr lang="ko-KR" altLang="en-US" i="1"/>
              <a:t>재질에 따른 차이 </a:t>
            </a:r>
            <a:endParaRPr lang="en-US" altLang="ko-KR" i="1"/>
          </a:p>
          <a:p>
            <a:pPr lvl="1"/>
            <a:r>
              <a:rPr lang="en-US" altLang="ko-KR" i="1"/>
              <a:t>Medium </a:t>
            </a:r>
            <a:r>
              <a:rPr lang="ko-KR" altLang="en-US" i="1"/>
              <a:t>에 따른 차이 가 논의에 기술되어있음</a:t>
            </a:r>
            <a:endParaRPr lang="en-US" i="1"/>
          </a:p>
          <a:p>
            <a:pPr marL="139700" indent="0">
              <a:buNone/>
            </a:pPr>
            <a:endParaRPr lang="en-US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76390" y="1357245"/>
            <a:ext cx="3067610" cy="347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54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01/  기존 논문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기존 분석의 한계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Autofit/>
          </a:bodyPr>
          <a:lstStyle/>
          <a:p>
            <a:r>
              <a:rPr lang="ko-KR" altLang="en-US" sz="1200"/>
              <a:t>피부는 </a:t>
            </a:r>
            <a:r>
              <a:rPr lang="en-US" sz="1200"/>
              <a:t>low-biomass sample</a:t>
            </a:r>
            <a:r>
              <a:rPr lang="ko-KR" altLang="en-US" sz="1200"/>
              <a:t>이므로 오염에 매우 민감 함 </a:t>
            </a:r>
          </a:p>
          <a:p>
            <a:pPr lvl="1"/>
            <a:r>
              <a:rPr lang="ko-KR" altLang="en-US" sz="1200"/>
              <a:t>이를 판별하기 위해서 단계별 </a:t>
            </a:r>
            <a:r>
              <a:rPr lang="en-US" altLang="ko-KR" sz="1200"/>
              <a:t>control</a:t>
            </a:r>
            <a:r>
              <a:rPr lang="ko-KR" altLang="en-US" sz="1200"/>
              <a:t> 샘플의 추가가 </a:t>
            </a:r>
            <a:r>
              <a:rPr lang="ko-KR" altLang="en-US" sz="1200" b="1"/>
              <a:t>필수적임 </a:t>
            </a:r>
            <a:endParaRPr lang="en-US" altLang="ko-KR" sz="1200" b="1"/>
          </a:p>
          <a:p>
            <a:pPr lvl="2"/>
            <a:r>
              <a:rPr lang="ko-KR" altLang="en-US" sz="1100" b="1">
                <a:solidFill>
                  <a:srgbClr val="1C33D7"/>
                </a:solidFill>
              </a:rPr>
              <a:t>수집 시 환경 </a:t>
            </a:r>
            <a:r>
              <a:rPr lang="en-US" altLang="ko-KR" sz="1100" b="1">
                <a:solidFill>
                  <a:srgbClr val="1C33D7"/>
                </a:solidFill>
              </a:rPr>
              <a:t>Control</a:t>
            </a:r>
          </a:p>
          <a:p>
            <a:pPr lvl="2"/>
            <a:r>
              <a:rPr lang="en-US" altLang="ko-KR" sz="1100" b="1">
                <a:solidFill>
                  <a:srgbClr val="1C33D7"/>
                </a:solidFill>
              </a:rPr>
              <a:t>DNA extraction blank</a:t>
            </a:r>
          </a:p>
          <a:p>
            <a:pPr lvl="2"/>
            <a:r>
              <a:rPr lang="en-US" altLang="ko-KR" sz="1100" b="1">
                <a:solidFill>
                  <a:srgbClr val="1C33D7"/>
                </a:solidFill>
              </a:rPr>
              <a:t>Primer</a:t>
            </a:r>
          </a:p>
          <a:p>
            <a:pPr lvl="2"/>
            <a:r>
              <a:rPr lang="en-US" altLang="ko-KR" sz="1100" b="1">
                <a:solidFill>
                  <a:srgbClr val="1C33D7"/>
                </a:solidFill>
              </a:rPr>
              <a:t>Library </a:t>
            </a:r>
            <a:r>
              <a:rPr lang="ko-KR" altLang="en-US" sz="1100" b="1">
                <a:solidFill>
                  <a:srgbClr val="1C33D7"/>
                </a:solidFill>
              </a:rPr>
              <a:t>에 사용되는 시약</a:t>
            </a:r>
            <a:endParaRPr lang="en-US" altLang="ko-KR" sz="1100" b="1">
              <a:solidFill>
                <a:srgbClr val="1C33D7"/>
              </a:solidFill>
            </a:endParaRPr>
          </a:p>
          <a:p>
            <a:pPr lvl="2"/>
            <a:r>
              <a:rPr lang="en-US" altLang="ko-KR" sz="1100">
                <a:solidFill>
                  <a:srgbClr val="1C33D7"/>
                </a:solidFill>
              </a:rPr>
              <a:t>+ </a:t>
            </a:r>
            <a:r>
              <a:rPr lang="ko-KR" altLang="en-US" sz="1100">
                <a:solidFill>
                  <a:srgbClr val="1C33D7"/>
                </a:solidFill>
              </a:rPr>
              <a:t>실험 시 사용되는 </a:t>
            </a:r>
            <a:r>
              <a:rPr lang="en-US" altLang="ko-KR" sz="1100">
                <a:solidFill>
                  <a:srgbClr val="1C33D7"/>
                </a:solidFill>
              </a:rPr>
              <a:t>PBS, H2O </a:t>
            </a:r>
          </a:p>
          <a:p>
            <a:pPr lvl="2"/>
            <a:r>
              <a:rPr lang="en-US" altLang="ko-KR" sz="1100">
                <a:solidFill>
                  <a:srgbClr val="1C33D7"/>
                </a:solidFill>
              </a:rPr>
              <a:t>+ Positive control (Mock community)</a:t>
            </a:r>
          </a:p>
          <a:p>
            <a:pPr lvl="2"/>
            <a:r>
              <a:rPr lang="en-US" altLang="ko-KR" sz="1100">
                <a:solidFill>
                  <a:srgbClr val="1C33D7"/>
                </a:solidFill>
              </a:rPr>
              <a:t>+ </a:t>
            </a:r>
            <a:r>
              <a:rPr lang="ko-KR" altLang="en-US" sz="1100">
                <a:solidFill>
                  <a:srgbClr val="1C33D7"/>
                </a:solidFill>
              </a:rPr>
              <a:t>농도에 따라 희석한 </a:t>
            </a:r>
            <a:r>
              <a:rPr lang="en-US" altLang="ko-KR" sz="1100">
                <a:solidFill>
                  <a:srgbClr val="1C33D7"/>
                </a:solidFill>
              </a:rPr>
              <a:t>Mock </a:t>
            </a:r>
            <a:r>
              <a:rPr lang="ko-KR" altLang="en-US" sz="1100">
                <a:solidFill>
                  <a:srgbClr val="1C33D7"/>
                </a:solidFill>
              </a:rPr>
              <a:t>과 </a:t>
            </a:r>
            <a:r>
              <a:rPr lang="en-US" altLang="ko-KR" sz="1100">
                <a:solidFill>
                  <a:srgbClr val="1C33D7"/>
                </a:solidFill>
              </a:rPr>
              <a:t>True sample</a:t>
            </a:r>
            <a:endParaRPr lang="en-US" altLang="ko-KR" sz="1100"/>
          </a:p>
          <a:p>
            <a:pPr lvl="1"/>
            <a:r>
              <a:rPr lang="ko-KR" altLang="en-US" sz="1200"/>
              <a:t>현재 프로젝트에서 총 </a:t>
            </a:r>
            <a:r>
              <a:rPr lang="en-US" altLang="ko-KR" sz="1200"/>
              <a:t>5</a:t>
            </a:r>
            <a:r>
              <a:rPr lang="ko-KR" altLang="en-US" sz="1200"/>
              <a:t>개의 </a:t>
            </a:r>
            <a:r>
              <a:rPr lang="en-US" altLang="ko-KR" sz="1200"/>
              <a:t>Air swab  </a:t>
            </a:r>
            <a:r>
              <a:rPr lang="ko-KR" altLang="en-US" sz="1200"/>
              <a:t>만 존재함</a:t>
            </a:r>
            <a:r>
              <a:rPr lang="en-US" altLang="ko-KR" sz="1200"/>
              <a:t>, </a:t>
            </a:r>
            <a:r>
              <a:rPr lang="ko-KR" altLang="en-US" sz="1200"/>
              <a:t>이 경우에는 각 단계별 오염을 점검할 수 없고</a:t>
            </a:r>
            <a:r>
              <a:rPr lang="en-US" altLang="ko-KR" sz="1200"/>
              <a:t>, </a:t>
            </a:r>
            <a:r>
              <a:rPr lang="ko-KR" altLang="en-US" sz="1200"/>
              <a:t>환경 오염 </a:t>
            </a:r>
            <a:r>
              <a:rPr lang="en-US" altLang="ko-KR" sz="1200"/>
              <a:t>+ </a:t>
            </a:r>
            <a:r>
              <a:rPr lang="ko-KR" altLang="en-US" sz="1200"/>
              <a:t>시약 </a:t>
            </a:r>
            <a:r>
              <a:rPr lang="en-US" altLang="ko-KR" sz="1200"/>
              <a:t>Contam </a:t>
            </a:r>
            <a:r>
              <a:rPr lang="ko-KR" altLang="en-US" sz="1200"/>
              <a:t>이 혼합된 결과를 도출함 </a:t>
            </a:r>
            <a:endParaRPr lang="en-US" altLang="ko-KR" sz="1200"/>
          </a:p>
          <a:p>
            <a:pPr lvl="1"/>
            <a:r>
              <a:rPr lang="ko-KR" altLang="en-US" sz="1200"/>
              <a:t>그러나 </a:t>
            </a:r>
            <a:r>
              <a:rPr lang="en-US" altLang="ko-KR" sz="1200"/>
              <a:t>NC</a:t>
            </a:r>
            <a:r>
              <a:rPr lang="ko-KR" altLang="en-US" sz="1200"/>
              <a:t>기반 오염 제거 단계가 수행되지 않음</a:t>
            </a:r>
            <a:endParaRPr lang="en-US" altLang="ko-KR" sz="1200"/>
          </a:p>
          <a:p>
            <a:pPr lvl="1"/>
            <a:endParaRPr lang="en-US" sz="1200"/>
          </a:p>
          <a:p>
            <a:r>
              <a:rPr lang="ko-KR" altLang="en-US" sz="1200"/>
              <a:t>또한 오염제거에 사용되는 대표적인 도구인 </a:t>
            </a:r>
            <a:r>
              <a:rPr lang="en-US" sz="1200"/>
              <a:t>decontam</a:t>
            </a:r>
            <a:r>
              <a:rPr lang="ko-KR" altLang="en-US" sz="1200"/>
              <a:t>에서 오염 제거 강도의 설정</a:t>
            </a:r>
            <a:r>
              <a:rPr lang="en-US" altLang="ko-KR" sz="1200"/>
              <a:t>(</a:t>
            </a:r>
            <a:r>
              <a:rPr lang="en-US" sz="1200"/>
              <a:t>threshold</a:t>
            </a:r>
            <a:r>
              <a:rPr lang="en-US" altLang="ko-KR" sz="1200"/>
              <a:t>)</a:t>
            </a:r>
            <a:r>
              <a:rPr lang="ko-KR" altLang="en-US" sz="1200"/>
              <a:t>을 추가 고려해야 함</a:t>
            </a:r>
            <a:endParaRPr lang="en-US" altLang="ko-KR" sz="1200"/>
          </a:p>
          <a:p>
            <a:pPr lvl="1"/>
            <a:r>
              <a:rPr lang="en-US" altLang="ko-KR" sz="1200"/>
              <a:t>Threshold </a:t>
            </a:r>
            <a:r>
              <a:rPr lang="ko-KR" altLang="en-US" sz="1200"/>
              <a:t>에 따라 미생물 분포가 일부 달라짐 </a:t>
            </a:r>
            <a:endParaRPr lang="en-US" altLang="ko-KR" sz="1200"/>
          </a:p>
          <a:p>
            <a:endParaRPr lang="en-US" altLang="ko-KR" sz="1200"/>
          </a:p>
          <a:p>
            <a:r>
              <a:rPr lang="ko-KR" altLang="en-US" sz="1200"/>
              <a:t>기존 분석은 </a:t>
            </a:r>
            <a:r>
              <a:rPr lang="en-US" sz="1200"/>
              <a:t>preprocessing robustness</a:t>
            </a:r>
            <a:r>
              <a:rPr lang="ko-KR" altLang="en-US" sz="1200"/>
              <a:t>를 직접 증명하지 않았음</a:t>
            </a:r>
            <a:endParaRPr lang="en-US" altLang="ko-KR" sz="1200"/>
          </a:p>
          <a:p>
            <a:pPr lvl="1"/>
            <a:r>
              <a:rPr lang="en-US" altLang="ko-KR" sz="1200">
                <a:solidFill>
                  <a:srgbClr val="1C33D7"/>
                </a:solidFill>
              </a:rPr>
              <a:t>Rarefy depth, minor ASV </a:t>
            </a:r>
            <a:r>
              <a:rPr lang="ko-KR" altLang="en-US" sz="1200">
                <a:solidFill>
                  <a:srgbClr val="1C33D7"/>
                </a:solidFill>
              </a:rPr>
              <a:t>삭제</a:t>
            </a:r>
            <a:r>
              <a:rPr lang="en-US" altLang="ko-KR" sz="1200">
                <a:solidFill>
                  <a:srgbClr val="1C33D7"/>
                </a:solidFill>
              </a:rPr>
              <a:t> </a:t>
            </a:r>
            <a:r>
              <a:rPr lang="ko-KR" altLang="en-US" sz="1200">
                <a:solidFill>
                  <a:srgbClr val="1C33D7"/>
                </a:solidFill>
              </a:rPr>
              <a:t>여부</a:t>
            </a:r>
            <a:r>
              <a:rPr lang="en-US" altLang="ko-KR" sz="1200">
                <a:solidFill>
                  <a:srgbClr val="1C33D7"/>
                </a:solidFill>
              </a:rPr>
              <a:t>, </a:t>
            </a:r>
            <a:r>
              <a:rPr lang="ko-KR" altLang="en-US" sz="1200">
                <a:solidFill>
                  <a:srgbClr val="1C33D7"/>
                </a:solidFill>
              </a:rPr>
              <a:t>데이터 </a:t>
            </a:r>
            <a:r>
              <a:rPr lang="en-US" altLang="ko-KR" sz="1200">
                <a:solidFill>
                  <a:srgbClr val="1C33D7"/>
                </a:solidFill>
              </a:rPr>
              <a:t>filtering</a:t>
            </a:r>
            <a:r>
              <a:rPr lang="ko-KR" altLang="en-US" sz="1200">
                <a:solidFill>
                  <a:srgbClr val="1C33D7"/>
                </a:solidFill>
              </a:rPr>
              <a:t>여부</a:t>
            </a:r>
          </a:p>
        </p:txBody>
      </p:sp>
    </p:spTree>
    <p:extLst>
      <p:ext uri="{BB962C8B-B14F-4D97-AF65-F5344CB8AC3E}">
        <p14:creationId xmlns:p14="http://schemas.microsoft.com/office/powerpoint/2010/main" val="262252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altLang="ko-KR"/>
              <a:t>02/ </a:t>
            </a:r>
            <a:r>
              <a:rPr lang="ko-KR" altLang="en-US"/>
              <a:t>추가 분석 방향 고찰논문 수정 방향과 투고 전략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ko-KR" altLang="en-US"/>
              <a:t>선행연구와 어떤 차별점을 가질 수 있는지</a:t>
            </a:r>
            <a:r>
              <a:rPr lang="en-US" altLang="ko-KR"/>
              <a:t>?</a:t>
            </a:r>
            <a:endParaRPr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46E5FA-9B57-4621-A08A-8BC07E373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89" y="926296"/>
            <a:ext cx="6871580" cy="368120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E6D2E5D-9250-460C-BDD0-2AE8DA46CE0E}"/>
              </a:ext>
            </a:extLst>
          </p:cNvPr>
          <p:cNvSpPr txBox="1"/>
          <p:nvPr/>
        </p:nvSpPr>
        <p:spPr>
          <a:xfrm>
            <a:off x="1590676" y="4543336"/>
            <a:ext cx="52533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/>
              <a:t>이미 </a:t>
            </a:r>
            <a:r>
              <a:rPr lang="en-US" altLang="ko-KR" sz="1100"/>
              <a:t>Skin microbiome</a:t>
            </a:r>
            <a:r>
              <a:rPr lang="ko-KR" altLang="en-US" sz="1100"/>
              <a:t>을 기반으로 </a:t>
            </a:r>
            <a:r>
              <a:rPr lang="en-US" altLang="ko-KR" sz="1100"/>
              <a:t>Sampling system </a:t>
            </a:r>
            <a:r>
              <a:rPr lang="ko-KR" altLang="en-US" sz="1100"/>
              <a:t>비교 문헌은 多</a:t>
            </a:r>
            <a:endParaRPr lang="en-US" altLang="ko-KR" sz="1100"/>
          </a:p>
          <a:p>
            <a:r>
              <a:rPr lang="en-US" altLang="ko-KR" sz="1100"/>
              <a:t>- </a:t>
            </a:r>
            <a:r>
              <a:rPr lang="ko-KR" altLang="en-US" sz="1100"/>
              <a:t>또한 </a:t>
            </a:r>
            <a:r>
              <a:rPr lang="en-US" altLang="ko-KR" sz="1100"/>
              <a:t>2025</a:t>
            </a:r>
            <a:r>
              <a:rPr lang="ko-KR" altLang="en-US" sz="1100"/>
              <a:t>년도에 수집</a:t>
            </a:r>
            <a:r>
              <a:rPr lang="en-US" altLang="ko-KR" sz="1100"/>
              <a:t>, </a:t>
            </a:r>
            <a:r>
              <a:rPr lang="ko-KR" altLang="en-US" sz="1100"/>
              <a:t>보관에 따라 </a:t>
            </a:r>
            <a:r>
              <a:rPr lang="en-US" altLang="ko-KR" sz="1100"/>
              <a:t>Microbiome </a:t>
            </a:r>
            <a:r>
              <a:rPr lang="ko-KR" altLang="en-US" sz="1100"/>
              <a:t>비교 결과 보고 </a:t>
            </a:r>
            <a:r>
              <a:rPr lang="en-US" altLang="ko-KR" sz="1100"/>
              <a:t>(Balacco et  al.) </a:t>
            </a:r>
          </a:p>
          <a:p>
            <a:r>
              <a:rPr lang="en-US" altLang="ko-KR" sz="1100"/>
              <a:t>- </a:t>
            </a:r>
            <a:r>
              <a:rPr lang="ko-KR" altLang="en-US" sz="1100"/>
              <a:t>기존 논문보다 </a:t>
            </a:r>
            <a:r>
              <a:rPr lang="en-US" altLang="ko-KR" sz="1100"/>
              <a:t>novelty </a:t>
            </a:r>
            <a:r>
              <a:rPr lang="ko-KR" altLang="en-US" sz="1100"/>
              <a:t>를 가지기 위해 전처리에 따른 비교를 수행하고자 하였음</a:t>
            </a:r>
            <a:r>
              <a:rPr lang="en-US" altLang="ko-KR" sz="1100"/>
              <a:t>. 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228193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03/  </a:t>
            </a:r>
            <a:r>
              <a:rPr lang="ko-KR" altLang="en-US"/>
              <a:t>추가 분석 </a:t>
            </a:r>
            <a:endParaRPr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Decontam</a:t>
            </a:r>
            <a:r>
              <a:rPr lang="en-US"/>
              <a:t> </a:t>
            </a:r>
            <a:r>
              <a:rPr lang="ko-KR" altLang="en-US"/>
              <a:t>강도 결정 </a:t>
            </a:r>
            <a:endParaRPr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66700" y="1066800"/>
            <a:ext cx="3707771" cy="3333750"/>
          </a:xfrm>
        </p:spPr>
        <p:txBody>
          <a:bodyPr/>
          <a:lstStyle/>
          <a:p>
            <a:r>
              <a:rPr lang="en-US" altLang="ko-KR"/>
              <a:t>Decontam</a:t>
            </a:r>
            <a:r>
              <a:rPr lang="ko-KR" altLang="en-US"/>
              <a:t>의 </a:t>
            </a:r>
            <a:r>
              <a:rPr lang="en-US"/>
              <a:t>Threshold </a:t>
            </a:r>
            <a:r>
              <a:rPr lang="ko-KR" altLang="en-US"/>
              <a:t>에 따른 오염 제거 강도</a:t>
            </a:r>
            <a:endParaRPr lang="en-US" altLang="ko-KR"/>
          </a:p>
          <a:p>
            <a:endParaRPr/>
          </a:p>
          <a:p>
            <a:r>
              <a:rPr b="1"/>
              <a:t>Threshold 0.5: </a:t>
            </a:r>
            <a:endParaRPr lang="en-US" b="1"/>
          </a:p>
          <a:p>
            <a:pPr lvl="1"/>
            <a:r>
              <a:rPr lang="en-US"/>
              <a:t>C</a:t>
            </a:r>
            <a:r>
              <a:t>ontaminant ASV 107개 제거, biological reads 91.6% 유지</a:t>
            </a:r>
            <a:endParaRPr lang="en-US"/>
          </a:p>
          <a:p>
            <a:pPr lvl="1"/>
            <a:r>
              <a:rPr lang="en-US"/>
              <a:t>C</a:t>
            </a:r>
            <a:r>
              <a:t>ontrol reads는 24.3%만 유지</a:t>
            </a:r>
          </a:p>
          <a:p>
            <a:endParaRPr lang="en-US"/>
          </a:p>
          <a:p>
            <a:r>
              <a:rPr b="1"/>
              <a:t>Threshold ≥0.6</a:t>
            </a:r>
            <a:r>
              <a:t>:</a:t>
            </a:r>
            <a:endParaRPr lang="en-US"/>
          </a:p>
          <a:p>
            <a:pPr lvl="1"/>
            <a:r>
              <a:t> 17개 이상 sampl이 rarefaction depth 미달</a:t>
            </a:r>
          </a:p>
          <a:p>
            <a:endParaRPr lang="en-US"/>
          </a:p>
          <a:p>
            <a:endParaRPr lang="en-US"/>
          </a:p>
          <a:p>
            <a:r>
              <a:t>0.5는 </a:t>
            </a:r>
            <a:r>
              <a:rPr lang="ko-KR" altLang="en-US"/>
              <a:t>가 </a:t>
            </a:r>
            <a:r>
              <a:t>sample loss를 피하면서 control-associated signal을 줄이는 최종 조건</a:t>
            </a:r>
            <a:r>
              <a:rPr lang="ko-KR" altLang="en-US"/>
              <a:t>으로 선택 됨 </a:t>
            </a:r>
            <a:endParaRPr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738564" y="1652587"/>
            <a:ext cx="2700337" cy="24003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D34BBAF-6392-4D91-AA63-8613C547A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438901" y="1304925"/>
            <a:ext cx="2476500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752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altLang="ko-KR"/>
              <a:t>03/  </a:t>
            </a:r>
            <a:r>
              <a:rPr lang="ko-KR" altLang="en-US"/>
              <a:t>추가 분석 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altLang="ko-KR"/>
              <a:t>Noise</a:t>
            </a:r>
            <a:r>
              <a:rPr lang="ko-KR" altLang="en-US"/>
              <a:t> </a:t>
            </a:r>
            <a:r>
              <a:rPr lang="en-US" altLang="ko-KR"/>
              <a:t>ASV </a:t>
            </a:r>
            <a:r>
              <a:rPr lang="ko-KR" altLang="en-US"/>
              <a:t>제거 비교</a:t>
            </a:r>
            <a:endParaRPr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66700" y="1066800"/>
            <a:ext cx="5387975" cy="3333750"/>
          </a:xfrm>
        </p:spPr>
        <p:txBody>
          <a:bodyPr/>
          <a:lstStyle/>
          <a:p>
            <a:r>
              <a:rPr lang="ko-KR" altLang="en-US"/>
              <a:t>데이터에서 전체에서 </a:t>
            </a:r>
            <a:r>
              <a:rPr lang="ko-KR" altLang="en-US" u="sng"/>
              <a:t>딱 하나의 </a:t>
            </a:r>
            <a:r>
              <a:rPr lang="en-US" altLang="ko-KR" u="sng"/>
              <a:t>read </a:t>
            </a:r>
            <a:r>
              <a:rPr lang="ko-KR" altLang="en-US" u="sng"/>
              <a:t>만 검출된 </a:t>
            </a:r>
            <a:r>
              <a:rPr lang="en-US" altLang="ko-KR" u="sng"/>
              <a:t>ASV</a:t>
            </a:r>
            <a:r>
              <a:rPr lang="ko-KR" altLang="en-US" u="sng"/>
              <a:t>를 </a:t>
            </a:r>
            <a:r>
              <a:rPr u="sng"/>
              <a:t>Singleton</a:t>
            </a:r>
            <a:r>
              <a:t> </a:t>
            </a:r>
            <a:r>
              <a:rPr lang="ko-KR" altLang="en-US"/>
              <a:t>이라 명명 </a:t>
            </a:r>
            <a:endParaRPr lang="en-US" altLang="ko-KR"/>
          </a:p>
          <a:p>
            <a:pPr lvl="1"/>
            <a:r>
              <a:rPr lang="ko-KR" altLang="en-US"/>
              <a:t>대부분 시퀀싱 오류일 가능성이 높음</a:t>
            </a:r>
            <a:endParaRPr lang="en-US" altLang="ko-KR"/>
          </a:p>
          <a:p>
            <a:pPr lvl="1"/>
            <a:endParaRPr lang="en-US"/>
          </a:p>
          <a:p>
            <a:r>
              <a:rPr lang="en-US" b="1"/>
              <a:t>Singleton</a:t>
            </a:r>
            <a:r>
              <a:rPr lang="ko-KR" altLang="en-US" b="1"/>
              <a:t>제거 시 </a:t>
            </a:r>
            <a:endParaRPr lang="en-US" altLang="ko-KR" b="1"/>
          </a:p>
          <a:p>
            <a:pPr lvl="1"/>
            <a:r>
              <a:t>: ASV 75개 감소, reads 99.99% 유지, 50개 sample 유지</a:t>
            </a:r>
          </a:p>
          <a:p>
            <a:endParaRPr lang="en-US"/>
          </a:p>
          <a:p>
            <a:r>
              <a:rPr lang="ko-KR" altLang="en-US"/>
              <a:t>다른 </a:t>
            </a:r>
            <a:r>
              <a:rPr lang="en-US" altLang="ko-KR"/>
              <a:t>noise </a:t>
            </a:r>
            <a:r>
              <a:rPr lang="ko-KR" altLang="en-US"/>
              <a:t>제거 기준 </a:t>
            </a:r>
            <a:endParaRPr lang="en-US" altLang="ko-KR"/>
          </a:p>
          <a:p>
            <a:pPr lvl="1"/>
            <a:r>
              <a:rPr b="1"/>
              <a:t>Prevalence ≥2 또는 ≥5, mean abundance ≥0.1%: </a:t>
            </a:r>
            <a:endParaRPr lang="en-US" b="1"/>
          </a:p>
          <a:p>
            <a:pPr lvl="2"/>
            <a:r>
              <a:t>일부 sample이 rarefaction에서 제외</a:t>
            </a:r>
          </a:p>
          <a:p>
            <a:endParaRPr lang="en-US"/>
          </a:p>
          <a:p>
            <a:pPr lvl="1"/>
            <a:r>
              <a:rPr b="1"/>
              <a:t>Mean abundance ≥1%: </a:t>
            </a:r>
            <a:endParaRPr lang="en-US" b="1"/>
          </a:p>
          <a:p>
            <a:pPr lvl="2"/>
            <a:r>
              <a:t>13개 sample이 depth 미달</a:t>
            </a:r>
          </a:p>
          <a:p>
            <a:endParaRPr lang="en-US"/>
          </a:p>
          <a:p>
            <a:r>
              <a:rPr lang="ko-KR" altLang="en-US"/>
              <a:t>결론적으로는 보수적인 노이즈 제거 방법인 </a:t>
            </a:r>
            <a:r>
              <a:rPr lang="en-US" altLang="ko-KR"/>
              <a:t>singleton</a:t>
            </a:r>
            <a:r>
              <a:rPr lang="ko-KR" altLang="en-US"/>
              <a:t>이 본 논문에 결과로 사용됨 </a:t>
            </a:r>
            <a:endParaRPr lang="en-US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493049" y="2945115"/>
            <a:ext cx="3557732" cy="1455435"/>
          </a:xfrm>
          <a:prstGeom prst="rect">
            <a:avLst/>
          </a:prstGeom>
        </p:spPr>
      </p:pic>
      <p:pic>
        <p:nvPicPr>
          <p:cNvPr id="1026" name="Picture 2" descr="https://blog.kakaocdn.net/dna/ba6I8I/dJMcaf0HxmW/AAAAAAAAAAAAAAAAAAAAAMZ1hkXzTdolAirSGzSLfwDnR_JoJcJ9HnRdFT-S5BK6/img.jpg?credential=yqXZFxpELC7KVnFOS48ylbz2pIh7yKj8&amp;expires=1788188399&amp;allow_ip=&amp;allow_referer=&amp;signature=F9s763t7wzUdO%2BxPl3k6NKm9HW8%3D">
            <a:extLst>
              <a:ext uri="{FF2B5EF4-FFF2-40B4-BE49-F238E27FC236}">
                <a16:creationId xmlns:a16="http://schemas.microsoft.com/office/drawing/2014/main" id="{B2D46C85-5148-4775-8BEB-1B93A4AB8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1915" y="309631"/>
            <a:ext cx="1687905" cy="250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A6445E0-1455-46C5-8476-8329639AC6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48418" y="5527"/>
            <a:ext cx="2595582" cy="2462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https://doi.org/10.1186/s13104-016-2172-6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7204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</a:t>
            </a:r>
            <a:r>
              <a:rPr lang="en-US" altLang="ko-KR"/>
              <a:t>3</a:t>
            </a:r>
            <a:endParaRPr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altLang="ko-KR"/>
              <a:t>03/  </a:t>
            </a:r>
            <a:r>
              <a:rPr lang="ko-KR" altLang="en-US"/>
              <a:t>추가 분석 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ko-KR" altLang="en-US"/>
              <a:t>결론적으로 재분석 시에도 기존 결과와 유사 </a:t>
            </a:r>
            <a:endParaRPr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66699" y="1066800"/>
            <a:ext cx="8325039" cy="4076700"/>
          </a:xfrm>
        </p:spPr>
        <p:txBody>
          <a:bodyPr/>
          <a:lstStyle/>
          <a:p>
            <a:r>
              <a:rPr lang="ko-KR" altLang="en-US"/>
              <a:t>여러 </a:t>
            </a:r>
            <a:r>
              <a:rPr lang="en-US" altLang="ko-KR"/>
              <a:t>noise </a:t>
            </a:r>
            <a:r>
              <a:rPr lang="ko-KR" altLang="en-US"/>
              <a:t>제거 조건에서도 </a:t>
            </a:r>
            <a:r>
              <a:t>sampling-system 효과는 participant·site 효과보다 작음</a:t>
            </a:r>
            <a:endParaRPr lang="en-US"/>
          </a:p>
          <a:p>
            <a:pPr lvl="1"/>
            <a:r>
              <a:rPr lang="en-US" altLang="ko-KR"/>
              <a:t>PERMNAOV </a:t>
            </a:r>
            <a:r>
              <a:rPr lang="ko-KR" altLang="en-US"/>
              <a:t>로 측정</a:t>
            </a:r>
            <a:endParaRPr/>
          </a:p>
          <a:p>
            <a:endParaRPr lang="en-US"/>
          </a:p>
          <a:p>
            <a:endParaRPr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457181" y="1792823"/>
            <a:ext cx="6082094" cy="304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585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0</a:t>
            </a:r>
            <a:r>
              <a:rPr lang="en-US" altLang="ko-KR"/>
              <a:t>2</a:t>
            </a:r>
            <a:endParaRPr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04/  논문 수정 방향과 투고 전략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투고 </a:t>
            </a:r>
            <a:r>
              <a:rPr lang="ko-KR" altLang="en-US"/>
              <a:t>저널 제안 </a:t>
            </a:r>
            <a:endParaRPr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altLang="ko-KR" b="1"/>
              <a:t>1</a:t>
            </a:r>
            <a:r>
              <a:rPr lang="ko-KR" altLang="en-US" b="1"/>
              <a:t>순위  </a:t>
            </a:r>
            <a:r>
              <a:rPr lang="en-US" b="1"/>
              <a:t>Microbiology Spectrum (ASM, IF 3.8)</a:t>
            </a:r>
          </a:p>
          <a:p>
            <a:pPr lvl="1"/>
            <a:r>
              <a:rPr lang="en-US"/>
              <a:t>methodology, replication, negative results </a:t>
            </a:r>
            <a:r>
              <a:rPr lang="ko-KR" altLang="en-US"/>
              <a:t>및 </a:t>
            </a:r>
            <a:r>
              <a:rPr lang="en-US"/>
              <a:t>technically robust datasets</a:t>
            </a:r>
            <a:r>
              <a:rPr lang="ko-KR" altLang="en-US"/>
              <a:t>를 명시적으로 수용</a:t>
            </a:r>
            <a:endParaRPr lang="en-US" altLang="ko-KR"/>
          </a:p>
          <a:p>
            <a:pPr lvl="1"/>
            <a:endParaRPr lang="en-US" altLang="ko-KR"/>
          </a:p>
          <a:p>
            <a:r>
              <a:rPr lang="en-US" altLang="ko-KR" b="1"/>
              <a:t>2</a:t>
            </a:r>
            <a:r>
              <a:rPr lang="ko-KR" altLang="en-US" b="1"/>
              <a:t>순위  </a:t>
            </a:r>
            <a:r>
              <a:rPr lang="en-US" b="1"/>
              <a:t>Journal of Microbiology and Biotechnology </a:t>
            </a:r>
            <a:r>
              <a:rPr lang="en-US" altLang="ko-KR" b="1"/>
              <a:t>(JMB)</a:t>
            </a:r>
            <a:endParaRPr lang="en-US" b="1"/>
          </a:p>
          <a:p>
            <a:pPr lvl="1"/>
            <a:r>
              <a:rPr lang="ko-KR" altLang="en-US"/>
              <a:t>국내 미생물학</a:t>
            </a:r>
            <a:r>
              <a:rPr lang="en-US" altLang="ko-KR"/>
              <a:t>·</a:t>
            </a:r>
            <a:r>
              <a:rPr lang="ko-KR" altLang="en-US"/>
              <a:t>생명공학 학회 국제 저널</a:t>
            </a:r>
            <a:r>
              <a:rPr lang="en-US" altLang="ko-KR"/>
              <a:t>; </a:t>
            </a:r>
          </a:p>
          <a:p>
            <a:pPr lvl="1"/>
            <a:r>
              <a:rPr lang="ko-KR" altLang="en-US"/>
              <a:t>최근 </a:t>
            </a:r>
            <a:r>
              <a:rPr lang="en-US"/>
              <a:t>IF </a:t>
            </a:r>
            <a:r>
              <a:rPr lang="ko-KR" altLang="en-US"/>
              <a:t>약 </a:t>
            </a:r>
            <a:r>
              <a:rPr lang="en-US" altLang="ko-KR"/>
              <a:t>3.1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5296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9824883-D173-4E8F-9980-A37850A71283}"/>
              </a:ext>
            </a:extLst>
          </p:cNvPr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rPr lang="en-US" altLang="ko-KR"/>
              <a:t>01</a:t>
            </a:r>
            <a:endParaRPr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C8DE6E-3A00-40EF-A5DD-DF90EE145C4A}"/>
              </a:ext>
            </a:extLst>
          </p:cNvPr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lang="en-US" altLang="ko-KR"/>
              <a:t>04/  </a:t>
            </a:r>
            <a:r>
              <a:rPr lang="ko-KR" altLang="en-US"/>
              <a:t>논문 수정 방향과 투고 전략</a:t>
            </a:r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0746CE3F-53F2-4221-99D7-47D08BACBF5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논문 보강안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EDA2F870-E8D7-4D03-B892-74A6A72C493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66699" y="1047750"/>
            <a:ext cx="5387975" cy="3476625"/>
          </a:xfrm>
        </p:spPr>
        <p:txBody>
          <a:bodyPr/>
          <a:lstStyle/>
          <a:p>
            <a:r>
              <a:rPr b="1"/>
              <a:t>Supplementary에 추가</a:t>
            </a:r>
            <a:endParaRPr lang="en-US" b="1"/>
          </a:p>
          <a:p>
            <a:pPr lvl="1"/>
            <a:endParaRPr lang="en-US" b="1"/>
          </a:p>
          <a:p>
            <a:r>
              <a:rPr lang="ko-KR" altLang="en-US" b="1"/>
              <a:t>데이터 전처리 방식에 따라 </a:t>
            </a:r>
            <a:r>
              <a:rPr lang="en-US" altLang="ko-KR" b="1"/>
              <a:t>low biomass</a:t>
            </a:r>
            <a:r>
              <a:rPr lang="ko-KR" altLang="en-US" b="1"/>
              <a:t>샘플의 변동 측정 </a:t>
            </a:r>
            <a:endParaRPr lang="en-US" altLang="ko-KR" b="1"/>
          </a:p>
          <a:p>
            <a:pPr lvl="1"/>
            <a:r>
              <a:rPr lang="ko-KR" altLang="en-US"/>
              <a:t>대상자</a:t>
            </a:r>
            <a:r>
              <a:rPr lang="en-US" altLang="ko-KR"/>
              <a:t>, </a:t>
            </a:r>
            <a:r>
              <a:rPr lang="ko-KR" altLang="en-US"/>
              <a:t>부위</a:t>
            </a:r>
            <a:r>
              <a:rPr lang="en-US" altLang="ko-KR"/>
              <a:t>, Sampling system </a:t>
            </a:r>
            <a:r>
              <a:rPr lang="ko-KR" altLang="en-US"/>
              <a:t>간 차이 있는지 추가 분석</a:t>
            </a:r>
            <a:endParaRPr lang="en-US" b="1"/>
          </a:p>
          <a:p>
            <a:pPr lvl="1"/>
            <a:r>
              <a:rPr lang="ko-KR" altLang="en-US"/>
              <a:t>분석 방법은 </a:t>
            </a:r>
            <a:r>
              <a:rPr lang="en-US" altLang="ko-KR"/>
              <a:t>PERMNOAVA </a:t>
            </a:r>
            <a:r>
              <a:rPr lang="ko-KR" altLang="en-US"/>
              <a:t>사용 </a:t>
            </a:r>
            <a:endParaRPr lang="en-US" altLang="ko-KR"/>
          </a:p>
          <a:p>
            <a:pPr lvl="1"/>
            <a:r>
              <a:rPr lang="ko-KR" altLang="en-US"/>
              <a:t>비교군 </a:t>
            </a:r>
            <a:endParaRPr lang="en-US" altLang="ko-KR"/>
          </a:p>
          <a:p>
            <a:pPr lvl="2"/>
            <a:r>
              <a:rPr lang="en-US" altLang="ko-KR"/>
              <a:t>Decontam </a:t>
            </a:r>
            <a:r>
              <a:t>Threshold 0.1–0.9</a:t>
            </a:r>
            <a:r>
              <a:rPr lang="en-US"/>
              <a:t> </a:t>
            </a:r>
            <a:r>
              <a:rPr lang="ko-KR" altLang="en-US"/>
              <a:t>에 따라</a:t>
            </a:r>
            <a:endParaRPr lang="en-US" altLang="ko-KR"/>
          </a:p>
          <a:p>
            <a:pPr lvl="2"/>
            <a:r>
              <a:rPr lang="en-US" altLang="ko-KR"/>
              <a:t>Noise </a:t>
            </a:r>
            <a:r>
              <a:rPr lang="ko-KR" altLang="en-US"/>
              <a:t>제거 전략에 따라 </a:t>
            </a:r>
            <a:endParaRPr lang="en-US" altLang="ko-KR"/>
          </a:p>
          <a:p>
            <a:endParaRPr lang="en-US"/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54674" y="1156768"/>
            <a:ext cx="2476500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764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26C9923-F593-471B-9AE2-67581A0D5923}"/>
              </a:ext>
            </a:extLst>
          </p:cNvPr>
          <p:cNvSpPr txBox="1"/>
          <p:nvPr/>
        </p:nvSpPr>
        <p:spPr>
          <a:xfrm>
            <a:off x="5641311" y="4200808"/>
            <a:ext cx="316304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4400"/>
              <a:t>감사합니다</a:t>
            </a:r>
            <a:r>
              <a:rPr lang="en-US" altLang="ko-KR" sz="4400"/>
              <a:t>.</a:t>
            </a:r>
            <a:endParaRPr lang="en-US" sz="4400"/>
          </a:p>
        </p:txBody>
      </p:sp>
    </p:spTree>
    <p:extLst>
      <p:ext uri="{BB962C8B-B14F-4D97-AF65-F5344CB8AC3E}">
        <p14:creationId xmlns:p14="http://schemas.microsoft.com/office/powerpoint/2010/main" val="2384223861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1173</Words>
  <Application>Microsoft Office PowerPoint</Application>
  <DocSecurity>0</DocSecurity>
  <PresentationFormat>화면 슬라이드 쇼(16:9)</PresentationFormat>
  <Paragraphs>157</Paragraphs>
  <Slides>11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Arial</vt:lpstr>
      <vt:lpstr>Wingdings</vt:lpstr>
      <vt:lpstr>Arial Unicode MS</vt:lpstr>
      <vt:lpstr>Calibri</vt:lpstr>
      <vt:lpstr>맑은 고딕</vt:lpstr>
      <vt:lpstr>Pretendard</vt:lpstr>
      <vt:lpstr>디자인 사용자 지정</vt:lpstr>
      <vt:lpstr>DT Swab 재분석 결과 및 논문 보강안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So-Yeon Kim</cp:lastModifiedBy>
  <cp:revision>4</cp:revision>
  <dcterms:created xsi:type="dcterms:W3CDTF">2026-08-25T03:00:17Z</dcterms:created>
  <dcterms:modified xsi:type="dcterms:W3CDTF">2026-08-25T09:44:31Z</dcterms:modified>
</cp:coreProperties>
</file>