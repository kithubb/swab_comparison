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4b5f8a91124661" /><Relationship Type="http://schemas.openxmlformats.org/officeDocument/2006/relationships/extended-properties" Target="/docProps/app.xml" Id="R4326192079e6430b" /><Relationship Type="http://schemas.openxmlformats.org/officeDocument/2006/relationships/officeDocument" Target="/ppt/presentation.xml" Id="Rfd285b4134394d0e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240df886e55f4655"/>
  </p:sldMasterIdLst>
  <p:notesMasterIdLst>
    <p:notesMasterId xmlns:r="http://schemas.openxmlformats.org/officeDocument/2006/relationships" r:id="Ra936d64127b54acd"/>
  </p:notesMasterIdLst>
  <p:sldIdLst>
    <p:sldId xmlns:r="http://schemas.openxmlformats.org/officeDocument/2006/relationships" id="256" r:id="R57b7e82b6eb843dc"/>
    <p:sldId xmlns:r="http://schemas.openxmlformats.org/officeDocument/2006/relationships" id="257" r:id="R15b613e84739405b"/>
    <p:sldId xmlns:r="http://schemas.openxmlformats.org/officeDocument/2006/relationships" id="258" r:id="Re43899c519344fb3"/>
    <p:sldId xmlns:r="http://schemas.openxmlformats.org/officeDocument/2006/relationships" id="259" r:id="R32045abadb1e46f0"/>
    <p:sldId xmlns:r="http://schemas.openxmlformats.org/officeDocument/2006/relationships" id="260" r:id="R092cfb89a8284aa8"/>
    <p:sldId xmlns:r="http://schemas.openxmlformats.org/officeDocument/2006/relationships" id="261" r:id="Refe0084cc2f34997"/>
    <p:sldId xmlns:r="http://schemas.openxmlformats.org/officeDocument/2006/relationships" id="262" r:id="R8ca7733effcc4400"/>
    <p:sldId xmlns:r="http://schemas.openxmlformats.org/officeDocument/2006/relationships" id="263" r:id="R0d3b32bcd652400d"/>
    <p:sldId xmlns:r="http://schemas.openxmlformats.org/officeDocument/2006/relationships" id="264" r:id="Re60da6dd0d7d403a"/>
    <p:sldId xmlns:r="http://schemas.openxmlformats.org/officeDocument/2006/relationships" id="265" r:id="R1890b4371ff04968"/>
  </p:sldIdLst>
  <p:sldSz cx="9144000" cy="5143500"/>
  <p:notesSz cx="6858000" cy="9144000"/>
  <p:embeddedFontLst>
    <p:embeddedFont>
      <p:font typeface="Calibri"/>
      <p:regular xmlns:r="http://schemas.openxmlformats.org/officeDocument/2006/relationships" r:id="R407198ce03d0420c"/>
      <p:bold xmlns:r="http://schemas.openxmlformats.org/officeDocument/2006/relationships" r:id="Recf96024cb8243f3"/>
      <p:italic xmlns:r="http://schemas.openxmlformats.org/officeDocument/2006/relationships" r:id="R72861298c5334fdc"/>
      <p:boldItalic xmlns:r="http://schemas.openxmlformats.org/officeDocument/2006/relationships" r:id="R541e2b50118c4670"/>
    </p:embeddedFont>
    <p:embeddedFont>
      <p:font typeface="Pretendard"/>
      <p:regular xmlns:r="http://schemas.openxmlformats.org/officeDocument/2006/relationships" r:id="R592729df23434e5d"/>
      <p:bold xmlns:r="http://schemas.openxmlformats.org/officeDocument/2006/relationships" r:id="Rf5fb7998dc6a4445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677EC35-DC63-4FD0-B777-EF276876572E}">
  <a:tblStyle styleId="{5677EC35-DC63-4FD0-B777-EF276876572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5758FB7-9AC5-4552-8A53-C91805E547FA}" styleName="테마 스타일 1 - 강조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6e5403f7b44ce" /><Relationship Type="http://schemas.openxmlformats.org/officeDocument/2006/relationships/slideMaster" Target="/ppt/slideMasters/slideMaster1.xml" Id="R240df886e55f4655" /><Relationship Type="http://schemas.openxmlformats.org/officeDocument/2006/relationships/notesMaster" Target="/ppt/notesMasters/notesMaster1.xml" Id="Ra936d64127b54acd" /><Relationship Type="http://schemas.openxmlformats.org/officeDocument/2006/relationships/presProps" Target="/ppt/presProps.xml" Id="R9df6404818ff472b" /><Relationship Type="http://schemas.openxmlformats.org/officeDocument/2006/relationships/viewProps" Target="/ppt/viewProps.xml" Id="Rca10fc8c12074f72" /><Relationship Type="http://schemas.openxmlformats.org/officeDocument/2006/relationships/tableStyles" Target="/ppt/tableStyles.xml" Id="R4f7dfdb634a34486" /><Relationship Type="http://schemas.openxmlformats.org/officeDocument/2006/relationships/font" Target="/ppt/fonts/font.dat" Id="R407198ce03d0420c" /><Relationship Type="http://schemas.openxmlformats.org/officeDocument/2006/relationships/font" Target="/ppt/fonts/font2.dat" Id="Recf96024cb8243f3" /><Relationship Type="http://schemas.openxmlformats.org/officeDocument/2006/relationships/font" Target="/ppt/fonts/font3.dat" Id="R72861298c5334fdc" /><Relationship Type="http://schemas.openxmlformats.org/officeDocument/2006/relationships/font" Target="/ppt/fonts/font4.dat" Id="R541e2b50118c4670" /><Relationship Type="http://schemas.openxmlformats.org/officeDocument/2006/relationships/font" Target="/ppt/fonts/font5.dat" Id="R592729df23434e5d" /><Relationship Type="http://schemas.openxmlformats.org/officeDocument/2006/relationships/font" Target="/ppt/fonts/font6.dat" Id="Rf5fb7998dc6a4445" /><Relationship Type="http://schemas.openxmlformats.org/officeDocument/2006/relationships/slide" Target="/ppt/slides/slide1.xml" Id="R57b7e82b6eb843dc" /><Relationship Type="http://schemas.openxmlformats.org/officeDocument/2006/relationships/slide" Target="/ppt/slides/slide2.xml" Id="R15b613e84739405b" /><Relationship Type="http://schemas.openxmlformats.org/officeDocument/2006/relationships/slide" Target="/ppt/slides/slide3.xml" Id="Re43899c519344fb3" /><Relationship Type="http://schemas.openxmlformats.org/officeDocument/2006/relationships/slide" Target="/ppt/slides/slide4.xml" Id="R32045abadb1e46f0" /><Relationship Type="http://schemas.openxmlformats.org/officeDocument/2006/relationships/slide" Target="/ppt/slides/slide5.xml" Id="R092cfb89a8284aa8" /><Relationship Type="http://schemas.openxmlformats.org/officeDocument/2006/relationships/slide" Target="/ppt/slides/slide6.xml" Id="Refe0084cc2f34997" /><Relationship Type="http://schemas.openxmlformats.org/officeDocument/2006/relationships/slide" Target="/ppt/slides/slide7.xml" Id="R8ca7733effcc4400" /><Relationship Type="http://schemas.openxmlformats.org/officeDocument/2006/relationships/slide" Target="/ppt/slides/slide8.xml" Id="R0d3b32bcd652400d" /><Relationship Type="http://schemas.openxmlformats.org/officeDocument/2006/relationships/slide" Target="/ppt/slides/slide9.xml" Id="Re60da6dd0d7d403a" /><Relationship Type="http://schemas.openxmlformats.org/officeDocument/2006/relationships/slide" Target="/ppt/slides/slide10.xml" Id="R1890b4371ff049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970d62b86048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0cd8b3be944385" /><Relationship Type="http://schemas.openxmlformats.org/officeDocument/2006/relationships/notesMaster" Target="/ppt/notesMasters/notesMaster1.xml" Id="R42357a62b91d4c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8ad7a8bc824ecf" /><Relationship Type="http://schemas.openxmlformats.org/officeDocument/2006/relationships/notesMaster" Target="/ppt/notesMasters/notesMaster1.xml" Id="R4d3a0630532246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28865fbb48b4202" /><Relationship Type="http://schemas.openxmlformats.org/officeDocument/2006/relationships/notesMaster" Target="/ppt/notesMasters/notesMaster1.xml" Id="Re8ec863db1084da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cd88f8d1d34558" /><Relationship Type="http://schemas.openxmlformats.org/officeDocument/2006/relationships/notesMaster" Target="/ppt/notesMasters/notesMaster1.xml" Id="R7c682adb7bcf4ef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e148a1584743d1" /><Relationship Type="http://schemas.openxmlformats.org/officeDocument/2006/relationships/notesMaster" Target="/ppt/notesMasters/notesMaster1.xml" Id="R4fe87ed0c304454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e3f3031644644" /><Relationship Type="http://schemas.openxmlformats.org/officeDocument/2006/relationships/notesMaster" Target="/ppt/notesMasters/notesMaster1.xml" Id="R321e140035ec49c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9c330cbbe3a40d2" /><Relationship Type="http://schemas.openxmlformats.org/officeDocument/2006/relationships/notesMaster" Target="/ppt/notesMasters/notesMaster1.xml" Id="R13a6cfaafcbd481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c045972ff0e44e8" /><Relationship Type="http://schemas.openxmlformats.org/officeDocument/2006/relationships/notesMaster" Target="/ppt/notesMasters/notesMaster1.xml" Id="R9b989712b2d24b4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8b5f5f18b504c4e" /><Relationship Type="http://schemas.openxmlformats.org/officeDocument/2006/relationships/notesMaster" Target="/ppt/notesMasters/notesMaster1.xml" Id="R86dce191e0854b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d35fce9d0d54e11" /><Relationship Type="http://schemas.openxmlformats.org/officeDocument/2006/relationships/notesMaster" Target="/ppt/notesMasters/notesMaster1.xml" Id="R8895bb0c0a7b444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[Sources]</a:t>
            </a:r>
            <a:endParaRPr/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Internal analysis update; no external source.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Study design and analysis facts from project metadata and completed R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Manuscript_figure_set_output/Figure1_bacterial_diversity.png.</a:t>
            </a:r>
          </a:p>
          <a:p xmlns:a="http://schemas.openxmlformats.org/drawingml/2006/main">
            <a:r>
              <a:t>PERMANOVA: completed reanalysis, 9,999 permutations; participant analysis unstratified.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06_Integrated_decontam_filter_sampling_system_analysis.Rmd and Integrated_sensitivity_output/README_results.txt.</a:t>
            </a:r>
          </a:p>
          <a:p xmlns:a="http://schemas.openxmlformats.org/drawingml/2006/main">
            <a:r>
              <a:t>Context literature: Bjerre et al., Scientific Reports 2019; Bay et al., American Journal of Human Biology 2021.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Bjerre RD et al. Effects of sampling strategy and DNA extraction on human skin microbiome investigations. Scientific Reports. 2019. PMID 31754146.</a:t>
            </a:r>
          </a:p>
          <a:p xmlns:a="http://schemas.openxmlformats.org/drawingml/2006/main">
            <a:r>
              <a:t>Bay L et al. Comparing different sample collection and storage methods for field-based skin microbiome research. American Journal of Human Biology. 2021. PMID 33644952.</a:t>
            </a:r>
          </a:p>
          <a:p xmlns:a="http://schemas.openxmlformats.org/drawingml/2006/main">
            <a:r>
              <a:t>Ogai K et al. A Comparison of Techniques for Collecting Skin Microbiome Samples: Swabbing Versus Tape-Stripping. Frontiers in Microbiology. 2018. PMID 30519225.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Integrated_sensitivity_output/Figures/Figure1_decontam_read_and_sample_retention.png.</a:t>
            </a:r>
          </a:p>
          <a:p xmlns:a="http://schemas.openxmlformats.org/drawingml/2006/main">
            <a:r>
              <a:t>Internal source: Table14_integrated_decontam_threshold_results.csv.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Integrated_sensitivity_output/Figures/Figure4_filter_retention_and_system_effect.png.</a:t>
            </a:r>
          </a:p>
          <a:p xmlns:a="http://schemas.openxmlformats.org/drawingml/2006/main">
            <a:r>
              <a:t>Internal source: Table15_integrated_filter_results.csv.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Integrated_sensitivity_output/Figures/Figure8_fixed50_signal_preservation_ratio.png.</a:t>
            </a:r>
          </a:p>
          <a:p xmlns:a="http://schemas.openxmlformats.org/drawingml/2006/main">
            <a:r>
              <a:t>Fixed 50-sample analyses use Bray-Curtis, binary Jaccard, Aitchison, weighted and unweighted UniFrac.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source: Integrated_sensitivity_output/Figures/Figure2_decontam_effect_size_stability.png.</a:t>
            </a:r>
          </a:p>
          <a:p xmlns:a="http://schemas.openxmlformats.org/drawingml/2006/main">
            <a:r>
              <a:t>Manuscript revision status: internal project status as of 2026-08-25.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Microbiology Spectrum: https://journals.asm.org/journal/spectrum/about ; 2026 ASM journals catalog reports IF 3.8.</a:t>
            </a:r>
          </a:p>
          <a:p xmlns:a="http://schemas.openxmlformats.org/drawingml/2006/main">
            <a:r>
              <a:t>MicrobiologyOpen: https://onlinelibrary.wiley.com/journal/20458827 ; official page reports IF 3.6.</a:t>
            </a:r>
          </a:p>
          <a:p xmlns:a="http://schemas.openxmlformats.org/drawingml/2006/main">
            <a:r>
              <a:t>Frontiers in Microbiomes: https://www.frontiersin.org/journals/microbiomes/about ; official page reports IF 3.0 and excludes observational surveys.</a:t>
            </a:r>
          </a:p>
          <a:p xmlns:a="http://schemas.openxmlformats.org/drawingml/2006/main">
            <a:r>
              <a:t>JMB current metric must be verified in the institution JCR immediately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362f65ca643af" /><Relationship Type="http://schemas.openxmlformats.org/officeDocument/2006/relationships/image" Target="/ppt/media/image.png" Id="Ra006abc50b094d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0be77194c94472" /><Relationship Type="http://schemas.openxmlformats.org/officeDocument/2006/relationships/image" Target="/ppt/media/image2.png" Id="R303e8111e97041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2150528a324f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0a023ab33d46e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c3793d6adc4ff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e346b9c9db4e1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6493022d7b460c" /></Relationships>
</file>

<file path=ppt/slideLayouts/slideLayout1.xml><?xml version="1.0" encoding="utf-8"?>
<p:sldLayout xmlns:p="http://schemas.openxmlformats.org/presentationml/2006/main" matchingName="4_제목 슬라이드">
  <p:cSld name="4_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Google Shape;16;p4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006abc50b094d1e">
            <a:alphaModFix/>
          </a:blip>
          <a:srcRect xmlns:a="http://schemas.openxmlformats.org/drawingml/2006/main" l="0" t="0" r="0" b="86608"/>
          <a:stretch xmlns:a="http://schemas.openxmlformats.org/drawingml/2006/main"/>
        </p:blipFill>
        <p:spPr>
          <a:xfrm xmlns:a="http://schemas.openxmlformats.org/drawingml/2006/main">
            <a:off x="3246666" y="4495687"/>
            <a:ext cx="2618069" cy="24776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" name="Google Shape;17;p48">
            <a:extLst xmlns:a="http://schemas.openxmlformats.org/drawingml/2006/main">
              <a:ext uri="{FF2B5EF4-FFF2-40B4-BE49-F238E27FC236}">
                <a16:creationId xmlns:a16="http://schemas.microsoft.com/office/drawing/2014/main" id="{2597E46A-6B49-4F78-8C05-6171D063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78822"/>
            <a:ext cx="9144000" cy="92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A9AC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450" b="0" i="0" u="none" cap="none">
              <a:solidFill>
                <a:schemeClr val="l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8" name="Google Shape;18;p48">
            <a:extLst xmlns:a="http://schemas.openxmlformats.org/drawingml/2006/main">
              <a:ext uri="{FF2B5EF4-FFF2-40B4-BE49-F238E27FC236}">
                <a16:creationId xmlns:a16="http://schemas.microsoft.com/office/drawing/2014/main" id="{35E7C239-608D-4DD5-A62A-56B811ADD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4" y="2478821"/>
            <a:ext cx="295835" cy="92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3D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450" b="0" i="0" u="none" cap="none">
              <a:solidFill>
                <a:schemeClr val="l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19" name="Google Shape;19;p48">
            <a:extLst xmlns:a="http://schemas.openxmlformats.org/drawingml/2006/main">
              <a:ext uri="{FF2B5EF4-FFF2-40B4-BE49-F238E27FC236}">
                <a16:creationId xmlns:a16="http://schemas.microsoft.com/office/drawing/2014/main" id="{F12F2E44-8395-4D81-9C24-E00B8BC68E6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81000" y="3039035"/>
            <a:ext cx="6858000" cy="801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>
                <a:solidFill>
                  <a:schemeClr val="dk1"/>
                </a:solidFill>
                <a:latin typeface="Pretendard"/>
                <a:ea typeface="Pretendard"/>
                <a:cs typeface="Pretendard"/>
              </a:defRPr>
            </a:lvl1pPr>
            <a:lvl2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2pPr>
            <a:lvl3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algn="ctr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48">
            <a:extLst xmlns:a="http://schemas.openxmlformats.org/drawingml/2006/main">
              <a:ext uri="{FF2B5EF4-FFF2-40B4-BE49-F238E27FC236}">
                <a16:creationId xmlns:a16="http://schemas.microsoft.com/office/drawing/2014/main" id="{E36057D2-E63D-439D-BA33-7BD0C88E464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1000" y="1317812"/>
            <a:ext cx="8664388" cy="10809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3000" b="1">
                <a:solidFill>
                  <a:schemeClr val="dk1"/>
                </a:solidFill>
                <a:latin typeface="Pretendard"/>
                <a:ea typeface="Pretendard"/>
                <a:cs typeface="Pretendard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1_contents" preserve="1">
  <p:cSld name="1_contents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9" name="Google Shape;34;p1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03e8111e9704179">
            <a:alphaModFix/>
          </a:blip>
          <a:srcRect xmlns:a="http://schemas.openxmlformats.org/drawingml/2006/main" l="-124" t="0" r="20117" b="0"/>
          <a:stretch xmlns:a="http://schemas.openxmlformats.org/drawingml/2006/main"/>
        </p:blipFill>
        <p:spPr>
          <a:xfrm xmlns:a="http://schemas.openxmlformats.org/drawingml/2006/main">
            <a:off x="2985325" y="0"/>
            <a:ext cx="6172590" cy="514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5" name="Google Shape;35;p122">
            <a:extLst xmlns:a="http://schemas.openxmlformats.org/drawingml/2006/main">
              <a:ext uri="{FF2B5EF4-FFF2-40B4-BE49-F238E27FC236}">
                <a16:creationId xmlns:a16="http://schemas.microsoft.com/office/drawing/2014/main" id="{41FD7A33-19D5-4B80-B716-7BB0F182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421" y="0"/>
            <a:ext cx="6747850" cy="51435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chemeClr val="lt1"/>
              </a:gs>
              <a:gs pos="52999">
                <a:srgbClr val="FFFFFF"/>
              </a:gs>
              <a:gs pos="77252">
                <a:srgbClr val="FFFFFF">
                  <a:alpha val="69019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2200" tIns="31075" rIns="62200" bIns="3107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25"/>
              <a:buFont typeface="Calibri"/>
              <a:buNone/>
            </a:pPr>
            <a:endParaRPr sz="1225" b="0" i="0" u="none" cap="none">
              <a:solidFill>
                <a:schemeClr val="lt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6" name="Google Shape;36;p122">
            <a:extLst xmlns:a="http://schemas.openxmlformats.org/drawingml/2006/main">
              <a:ext uri="{FF2B5EF4-FFF2-40B4-BE49-F238E27FC236}">
                <a16:creationId xmlns:a16="http://schemas.microsoft.com/office/drawing/2014/main" id="{11F9BF0B-277F-43D1-9C2B-A66F054FFA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2926" y="1959759"/>
            <a:ext cx="6055018" cy="5471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76AAB"/>
              </a:buClr>
              <a:buSzPts val="4400"/>
              <a:buFont typeface="Arial"/>
              <a:buNone/>
              <a:defRPr sz="2994">
                <a:solidFill>
                  <a:srgbClr val="032C69"/>
                </a:solidFill>
                <a:latin typeface="Pretendard"/>
                <a:ea typeface="Pretendard"/>
                <a:cs typeface="Pretendard"/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7" name="Google Shape;37;p122">
            <a:extLst xmlns:a="http://schemas.openxmlformats.org/drawingml/2006/main">
              <a:ext uri="{FF2B5EF4-FFF2-40B4-BE49-F238E27FC236}">
                <a16:creationId xmlns:a16="http://schemas.microsoft.com/office/drawing/2014/main" id="{F7A72774-140C-4CE4-8900-E9C29E92C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454526" y="1442233"/>
            <a:ext cx="45719" cy="3960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33D7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endParaRPr sz="600" b="0" i="0" u="none" cap="none">
              <a:solidFill>
                <a:schemeClr val="lt1"/>
              </a:solidFill>
              <a:latin typeface="Pretendard"/>
              <a:ea typeface="Pretendard"/>
              <a:cs typeface="Pretendard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3_제목 및 내용" preserve="1" userDrawn="1">
  <p:cSld name="4_제목 및 내용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53">
            <a:extLst xmlns:a="http://schemas.openxmlformats.org/drawingml/2006/main">
              <a:ext uri="{FF2B5EF4-FFF2-40B4-BE49-F238E27FC236}">
                <a16:creationId xmlns:a16="http://schemas.microsoft.com/office/drawing/2014/main" id="{628178C8-0C1D-47BA-A465-86D0528C0F9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228600" y="886374"/>
            <a:ext cx="8686800" cy="397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800">
                <a:solidFill>
                  <a:srgbClr val="1C33D7"/>
                </a:solidFill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1C9D1BA1-FFB8-496B-BEF1-C1A7353914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2489" y="309630"/>
            <a:ext cx="8062912" cy="44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B73EF395-37C0-41FB-9B33-AF6CD758C3A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28601" y="0"/>
            <a:ext cx="5426074" cy="257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" name="직선 연결선 22">
            <a:extLst xmlns:a="http://schemas.openxmlformats.org/drawingml/2006/main">
              <a:ext uri="{FF2B5EF4-FFF2-40B4-BE49-F238E27FC236}">
                <a16:creationId xmlns:a16="http://schemas.microsoft.com/office/drawing/2014/main" id="{C32BCFA6-5015-4953-A38A-D9C1BB514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직선 연결선 23">
            <a:extLst xmlns:a="http://schemas.openxmlformats.org/drawingml/2006/main">
              <a:ext uri="{FF2B5EF4-FFF2-40B4-BE49-F238E27FC236}">
                <a16:creationId xmlns:a16="http://schemas.microsoft.com/office/drawing/2014/main" id="{5362DA82-7B0E-437A-B743-10E5FD563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5572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C33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5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8E224373-46FB-4A4A-BF1C-839D40E5CF1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28602" y="309630"/>
            <a:ext cx="557212" cy="442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9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EB9A4DDD-2C73-4F5E-8876-AFAEE3E8698A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28600" y="1350755"/>
            <a:ext cx="8686800" cy="349915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3_제목 및 내용" preserve="1" userDrawn="1">
  <p:cSld name="4_제목 및 내용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직선 연결선 22">
            <a:extLst xmlns:a="http://schemas.openxmlformats.org/drawingml/2006/main">
              <a:ext uri="{FF2B5EF4-FFF2-40B4-BE49-F238E27FC236}">
                <a16:creationId xmlns:a16="http://schemas.microsoft.com/office/drawing/2014/main" id="{4D76AC6D-1350-4296-84C6-1F84BAAD9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D2478373-F71F-BE36-909E-B58EC9F46D7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28602" y="309630"/>
            <a:ext cx="557212" cy="442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3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1D53C091-B499-8EF9-3098-3941891BC655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28601" y="0"/>
            <a:ext cx="5426074" cy="257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502B85E3-9C24-9E94-1C2C-A8334653566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2489" y="309630"/>
            <a:ext cx="8062912" cy="44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" name="Google Shape;46;p53">
            <a:extLst xmlns:a="http://schemas.openxmlformats.org/drawingml/2006/main">
              <a:ext uri="{FF2B5EF4-FFF2-40B4-BE49-F238E27FC236}">
                <a16:creationId xmlns:a16="http://schemas.microsoft.com/office/drawing/2014/main" id="{27C425B0-22C8-6E1F-8BCA-C6272FD6F4BF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228600" y="888855"/>
            <a:ext cx="8686800" cy="397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800">
                <a:solidFill>
                  <a:srgbClr val="1C33D7"/>
                </a:solidFill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" name="직선 연결선 7">
            <a:extLst xmlns:a="http://schemas.openxmlformats.org/drawingml/2006/main">
              <a:ext uri="{FF2B5EF4-FFF2-40B4-BE49-F238E27FC236}">
                <a16:creationId xmlns:a16="http://schemas.microsoft.com/office/drawing/2014/main" id="{47D68489-3180-45A1-9D6C-0BE0DB85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5572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C33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5.xml><?xml version="1.0" encoding="utf-8"?>
<p:sldLayout xmlns:p="http://schemas.openxmlformats.org/presentationml/2006/main" matchingName="3_제목 및 내용" preserve="1" userDrawn="1">
  <p:cSld name="4_제목 및 내용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0B12397A-E157-4E4C-98C4-C778F5214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5ED3CF82-7785-4C6B-88AD-6D3776DCE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5572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C33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28602" y="309630"/>
            <a:ext cx="557212" cy="442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28601" y="0"/>
            <a:ext cx="5426074" cy="257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2489" y="309630"/>
            <a:ext cx="8062912" cy="44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28600" y="886375"/>
            <a:ext cx="8686800" cy="39635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3_제목 및 내용" preserve="1" userDrawn="1">
  <p:cSld name="4_제목 및 내용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79513BCC-25C5-47F2-A47B-C6A9E438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7592DEFA-A1BE-47C5-A442-317189B7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5572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C33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28602" y="309630"/>
            <a:ext cx="557212" cy="442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28601" y="0"/>
            <a:ext cx="5426074" cy="257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2489" y="309630"/>
            <a:ext cx="8062912" cy="44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28600" y="886375"/>
            <a:ext cx="4264742" cy="39635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51397CC-EBCD-4356-B789-3536B9336FE8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656803" y="886375"/>
            <a:ext cx="4264742" cy="396353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3_제목 및 내용" preserve="1" userDrawn="1">
  <p:cSld name="4_제목 및 내용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직선 연결선 4">
            <a:extLst xmlns:a="http://schemas.openxmlformats.org/drawingml/2006/main">
              <a:ext uri="{FF2B5EF4-FFF2-40B4-BE49-F238E27FC236}">
                <a16:creationId xmlns:a16="http://schemas.microsoft.com/office/drawing/2014/main" id="{AE954E11-3A86-429D-A400-B1A803CCB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89154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직선 연결선 10">
            <a:extLst xmlns:a="http://schemas.openxmlformats.org/drawingml/2006/main">
              <a:ext uri="{FF2B5EF4-FFF2-40B4-BE49-F238E27FC236}">
                <a16:creationId xmlns:a16="http://schemas.microsoft.com/office/drawing/2014/main" id="{B1477424-1BDF-46CB-B081-33D20BBAF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19413"/>
            <a:ext cx="557214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1C33D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86A21064-A5BA-7C63-7040-4B88065F4B14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228602" y="309630"/>
            <a:ext cx="557212" cy="4428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7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75005191-45E5-90D0-E781-B38141FEE62B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228601" y="0"/>
            <a:ext cx="5426074" cy="2572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05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" name="Google Shape;45;p53">
            <a:extLst xmlns:a="http://schemas.openxmlformats.org/drawingml/2006/main">
              <a:ext uri="{FF2B5EF4-FFF2-40B4-BE49-F238E27FC236}">
                <a16:creationId xmlns:a16="http://schemas.microsoft.com/office/drawing/2014/main" id="{A42F1763-1822-6C1F-E2B6-B7C69394165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52489" y="309630"/>
            <a:ext cx="8062912" cy="4428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000"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40801DA4-C374-0092-D74B-B611B22EA4A0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28600" y="1314582"/>
            <a:ext cx="4264742" cy="35353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8" name="내용 개체 틀 2">
            <a:extLst xmlns:a="http://schemas.openxmlformats.org/drawingml/2006/main">
              <a:ext uri="{FF2B5EF4-FFF2-40B4-BE49-F238E27FC236}">
                <a16:creationId xmlns:a16="http://schemas.microsoft.com/office/drawing/2014/main" id="{051397CC-EBCD-4356-B789-3536B9336FE8}"/>
              </a:ext>
            </a:extLst>
          </p:cNvPr>
          <p:cNvSpPr>
            <a:spLocks xmlns:a="http://schemas.openxmlformats.org/drawingml/2006/main" noGrp="1"/>
          </p:cNvSpPr>
          <p:nvPr>
            <p:ph idx="16"/>
          </p:nvPr>
        </p:nvSpPr>
        <p:spPr>
          <a:xfrm xmlns:a="http://schemas.openxmlformats.org/drawingml/2006/main">
            <a:off x="4656803" y="1314582"/>
            <a:ext cx="4264742" cy="353532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457200" indent="-317500">
              <a:buClr>
                <a:srgbClr val="1C33D7"/>
              </a:buClr>
              <a:buFont typeface="Wingdings"/>
              <a:buChar char="§"/>
              <a:defRPr sz="1400">
                <a:latin typeface="Pretendard"/>
                <a:ea typeface="Pretendard"/>
                <a:cs typeface="Pretendard"/>
              </a:defRPr>
            </a:lvl1pPr>
            <a:lvl2pPr marL="914400" indent="-304800">
              <a:buClr>
                <a:srgbClr val="1C33D7"/>
              </a:buClr>
              <a:buSzPct val="80000"/>
              <a:buFont typeface="Wingdings"/>
              <a:buChar char="ü"/>
              <a:defRPr sz="1400">
                <a:latin typeface="Pretendard"/>
                <a:ea typeface="Pretendard"/>
                <a:cs typeface="Pretendard"/>
              </a:defRPr>
            </a:lvl2pPr>
            <a:lvl3pPr marL="1371600" indent="-292100">
              <a:buClr>
                <a:srgbClr val="1C33D7"/>
              </a:buClr>
              <a:buFont typeface="Pretendard"/>
              <a:buChar char=""/>
              <a:defRPr sz="1200">
                <a:latin typeface="Pretendard"/>
                <a:ea typeface="Pretendard"/>
                <a:cs typeface="Pretendard"/>
              </a:defRPr>
            </a:lvl3pPr>
            <a:lvl4pPr marL="18288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4pPr>
            <a:lvl5pPr marL="2286000" indent="-285750">
              <a:buClr>
                <a:srgbClr val="A7A9AC"/>
              </a:buClr>
              <a:buSzPct val="100000"/>
              <a:buFont typeface="Pretendard"/>
              <a:buChar char="−"/>
              <a:defRPr sz="1200">
                <a:latin typeface="Pretendard"/>
                <a:ea typeface="Pretendard"/>
                <a:cs typeface="Pretendard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12" name="Google Shape;46;p53">
            <a:extLst xmlns:a="http://schemas.openxmlformats.org/drawingml/2006/main">
              <a:ext uri="{FF2B5EF4-FFF2-40B4-BE49-F238E27FC236}">
                <a16:creationId xmlns:a16="http://schemas.microsoft.com/office/drawing/2014/main" id="{E72317DA-EFCD-4EDC-BD70-72149DF59CD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228600" y="888856"/>
            <a:ext cx="4264742" cy="35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400">
                <a:solidFill>
                  <a:srgbClr val="1C33D7"/>
                </a:solidFill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46;p53">
            <a:extLst xmlns:a="http://schemas.openxmlformats.org/drawingml/2006/main">
              <a:ext uri="{FF2B5EF4-FFF2-40B4-BE49-F238E27FC236}">
                <a16:creationId xmlns:a16="http://schemas.microsoft.com/office/drawing/2014/main" id="{1A8DA244-9AB4-45B7-B21C-4BE6E2B6DA3A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4650658" y="888856"/>
            <a:ext cx="4264742" cy="3587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0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3E42F2"/>
              </a:buClr>
              <a:buSzPts val="1800"/>
              <a:buNone/>
              <a:defRPr sz="1400">
                <a:solidFill>
                  <a:srgbClr val="1C33D7"/>
                </a:solidFill>
                <a:latin typeface="Pretendard"/>
                <a:ea typeface="Pretendard"/>
                <a:cs typeface="Pretendard"/>
              </a:defRPr>
            </a:lvl1pPr>
            <a:lvl2pPr marL="914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261bb5424e4d92" /><Relationship Type="http://schemas.openxmlformats.org/officeDocument/2006/relationships/slideLayout" Target="/ppt/slideLayouts/slideLayout1.xml" Id="Rcb733e28c69548b6" /><Relationship Type="http://schemas.openxmlformats.org/officeDocument/2006/relationships/slideLayout" Target="/ppt/slideLayouts/slideLayout2.xml" Id="Ra5159f5b4cbc4d3a" /><Relationship Type="http://schemas.openxmlformats.org/officeDocument/2006/relationships/slideLayout" Target="/ppt/slideLayouts/slideLayout3.xml" Id="Rb166761cb8124b68" /><Relationship Type="http://schemas.openxmlformats.org/officeDocument/2006/relationships/slideLayout" Target="/ppt/slideLayouts/slideLayout4.xml" Id="Rf24bb3a635014b88" /><Relationship Type="http://schemas.openxmlformats.org/officeDocument/2006/relationships/slideLayout" Target="/ppt/slideLayouts/slideLayout5.xml" Id="Rf1fbb3e0a7c74f7d" /><Relationship Type="http://schemas.openxmlformats.org/officeDocument/2006/relationships/slideLayout" Target="/ppt/slideLayouts/slideLayout6.xml" Id="R522974237df548e8" /><Relationship Type="http://schemas.openxmlformats.org/officeDocument/2006/relationships/slideLayout" Target="/ppt/slideLayouts/slideLayout7.xml" Id="Rf7bf392ed9994819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47">
            <a:extLst xmlns:a="http://schemas.openxmlformats.org/drawingml/2006/main">
              <a:ext uri="{FF2B5EF4-FFF2-40B4-BE49-F238E27FC236}">
                <a16:creationId xmlns:a16="http://schemas.microsoft.com/office/drawing/2014/main" id="{EFCEFE2F-F68F-4691-B0B7-912E083402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5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sz="2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1" name="Google Shape;11;p47">
            <a:extLst xmlns:a="http://schemas.openxmlformats.org/drawingml/2006/main">
              <a:ext uri="{FF2B5EF4-FFF2-40B4-BE49-F238E27FC236}">
                <a16:creationId xmlns:a16="http://schemas.microsoft.com/office/drawing/2014/main" id="{1F9A8FC1-4564-4372-8923-CB2A22B5D3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marR="0" indent="-3048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marR="0" indent="-29210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285750" algn="l">
              <a:lnSpc>
                <a:spcPct val="90000"/>
              </a:lnSpc>
              <a:spcBef>
                <a:spcPts val="25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Char char="•"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" name="Google Shape;12;p47">
            <a:extLst xmlns:a="http://schemas.openxmlformats.org/drawingml/2006/main">
              <a:ext uri="{FF2B5EF4-FFF2-40B4-BE49-F238E27FC236}">
                <a16:creationId xmlns:a16="http://schemas.microsoft.com/office/drawing/2014/main" id="{2602D824-9A9D-47B2-9B79-4F723863ED3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cap="none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3" name="Google Shape;13;p47">
            <a:extLst xmlns:a="http://schemas.openxmlformats.org/drawingml/2006/main">
              <a:ext uri="{FF2B5EF4-FFF2-40B4-BE49-F238E27FC236}">
                <a16:creationId xmlns:a16="http://schemas.microsoft.com/office/drawing/2014/main" id="{DAC6837A-FA1E-421E-B70B-5D502E46660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600" b="0" i="0" u="none" cap="none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lvl1pPr>
            <a:lvl2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4" name="Google Shape;14;p47">
            <a:extLst xmlns:a="http://schemas.openxmlformats.org/drawingml/2006/main">
              <a:ext uri="{FF2B5EF4-FFF2-40B4-BE49-F238E27FC236}">
                <a16:creationId xmlns:a16="http://schemas.microsoft.com/office/drawing/2014/main" id="{9CCB5C58-F8DA-4750-972A-9DC261225E5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Pretendard"/>
                <a:ea typeface="Pretendard"/>
                <a:cs typeface="Pretendard"/>
              </a:defRPr>
            </a:lvl1pPr>
            <a:lvl2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buNone/>
              <a:defRPr sz="600" b="0" i="0" u="non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fld id="{00000000-1234-1234-1234-123412341234}" type="slidenum"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b733e28c69548b6"/>
    <p:sldLayoutId xmlns:r="http://schemas.openxmlformats.org/officeDocument/2006/relationships" id="2147483650" r:id="Ra5159f5b4cbc4d3a"/>
    <p:sldLayoutId xmlns:r="http://schemas.openxmlformats.org/officeDocument/2006/relationships" id="2147483651" r:id="Rb166761cb8124b68"/>
    <p:sldLayoutId xmlns:r="http://schemas.openxmlformats.org/officeDocument/2006/relationships" id="2147483652" r:id="Rf24bb3a635014b88"/>
    <p:sldLayoutId xmlns:r="http://schemas.openxmlformats.org/officeDocument/2006/relationships" id="2147483653" r:id="Rf1fbb3e0a7c74f7d"/>
    <p:sldLayoutId xmlns:r="http://schemas.openxmlformats.org/officeDocument/2006/relationships" id="2147483654" r:id="R522974237df548e8"/>
    <p:sldLayoutId xmlns:r="http://schemas.openxmlformats.org/officeDocument/2006/relationships" id="2147483655" r:id="Rf7bf392ed999481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Pretendard"/>
          <a:ea typeface="Pretendard"/>
          <a:cs typeface="Pretendard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49afe18ba24a7c" /><Relationship Type="http://schemas.openxmlformats.org/officeDocument/2006/relationships/notesSlide" Target="/ppt/notesSlides/notesSlide1.xml" Id="R29261776cb1d4a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a4a217571fb467b" /><Relationship Type="http://schemas.openxmlformats.org/officeDocument/2006/relationships/notesSlide" Target="/ppt/notesSlides/notesSlide2.xml" Id="R1874a9a690b94c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fc52030c9444db2" /><Relationship Type="http://schemas.openxmlformats.org/officeDocument/2006/relationships/image" Target="/ppt/media/image3.png" Id="R2a382ee4eecb45d5" /><Relationship Type="http://schemas.openxmlformats.org/officeDocument/2006/relationships/notesSlide" Target="/ppt/notesSlides/notesSlide3.xml" Id="R508226aa1c4b43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5fc8b264ec43a6" /><Relationship Type="http://schemas.openxmlformats.org/officeDocument/2006/relationships/notesSlide" Target="/ppt/notesSlides/notesSlide4.xml" Id="Rb83bdc168c684c6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eb63e2ac1d77449d" /><Relationship Type="http://schemas.openxmlformats.org/officeDocument/2006/relationships/notesSlide" Target="/ppt/notesSlides/notesSlide5.xml" Id="R28331cb0d39f41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40cdad9d8704ed0" /><Relationship Type="http://schemas.openxmlformats.org/officeDocument/2006/relationships/image" Target="/ppt/media/image4.png" Id="Rae783c3ea02145d6" /><Relationship Type="http://schemas.openxmlformats.org/officeDocument/2006/relationships/notesSlide" Target="/ppt/notesSlides/notesSlide6.xml" Id="Rc9d2e1df7cbf403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25a62438bcb4566" /><Relationship Type="http://schemas.openxmlformats.org/officeDocument/2006/relationships/image" Target="/ppt/media/image5.png" Id="R6f5bbe5d14f5405b" /><Relationship Type="http://schemas.openxmlformats.org/officeDocument/2006/relationships/notesSlide" Target="/ppt/notesSlides/notesSlide7.xml" Id="Ra7d5d47e52c74e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eb52a21ff9c4b96" /><Relationship Type="http://schemas.openxmlformats.org/officeDocument/2006/relationships/image" Target="/ppt/media/image6.png" Id="R28b95738a9714bce" /><Relationship Type="http://schemas.openxmlformats.org/officeDocument/2006/relationships/notesSlide" Target="/ppt/notesSlides/notesSlide8.xml" Id="R78ac53654eed46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d5d544305c8475c" /><Relationship Type="http://schemas.openxmlformats.org/officeDocument/2006/relationships/image" Target="/ppt/media/image7.png" Id="R9343a055c554469b" /><Relationship Type="http://schemas.openxmlformats.org/officeDocument/2006/relationships/notesSlide" Target="/ppt/notesSlides/notesSlide9.xml" Id="Rdfecb8ef9a3c4b3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b389af5b194daf" /><Relationship Type="http://schemas.openxmlformats.org/officeDocument/2006/relationships/notesSlide" Target="/ppt/notesSlides/notesSlide10.xml" Id="R39581d46d10546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6" name="Google Shape;66;p1">
            <a:extLst xmlns:a="http://schemas.openxmlformats.org/drawingml/2006/main">
              <a:ext uri="{FF2B5EF4-FFF2-40B4-BE49-F238E27FC236}">
                <a16:creationId xmlns:a16="http://schemas.microsoft.com/office/drawing/2014/main" id="{1BE4F260-B25C-4732-92A2-5C5D0A0A67A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515719" y="3331361"/>
            <a:ext cx="4419600" cy="124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>
                <a:solidFill>
                  <a:schemeClr val="tx1"/>
                </a:solidFill>
              </a:rPr>
              <a:t>저생물량 피부 microbiome에서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>
                <a:solidFill>
                  <a:schemeClr val="tx1"/>
                </a:solidFill>
              </a:rPr>
              <a:t>sampling-system 비교의 안정성 검증</a:t>
            </a:r>
            <a:endParaRPr>
              <a:solidFill>
                <a:schemeClr val="tx1"/>
              </a:solidFill>
            </a:endParaRPr>
          </a:p>
          <a:p xmlns:a="http://schemas.openxmlformats.org/drawingml/2006/main">
            <a:pPr marL="0" indent="0" algn="ctr">
              <a:buNone/>
            </a:pPr>
            <a:r>
              <a:rPr>
                <a:solidFill>
                  <a:schemeClr val="tx1"/>
                </a:solidFill>
              </a:rPr>
              <a:t>2026.08.25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7" name="Google Shape;67;p1">
            <a:extLst xmlns:a="http://schemas.openxmlformats.org/drawingml/2006/main">
              <a:ext uri="{FF2B5EF4-FFF2-40B4-BE49-F238E27FC236}">
                <a16:creationId xmlns:a16="http://schemas.microsoft.com/office/drawing/2014/main" id="{AEEF64D1-26BF-4AEF-84AD-A3BF9C73F85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07040" y="570714"/>
            <a:ext cx="8836959" cy="1789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Autofit/>
          </a:bodyPr>
          <a:lstStyle xmlns:a="http://schemas.openxmlformats.org/drawingml/2006/main"/>
          <a:p xmlns:a="http://schemas.openxmlformats.org/drawingml/2006/main">
            <a:pPr lvl="0" algn="ctr">
              <a:lnSpc>
                <a:spcPct val="100000"/>
              </a:lnSpc>
              <a:buNone/>
            </a:pPr>
            <a:r>
              <a:rPr sz="3200">
                <a:solidFill>
                  <a:srgbClr val="1C33D7"/>
                </a:solidFill>
              </a:rPr>
              <a:t>DT Swab 재분석 결과 및 논문 보강안</a:t>
            </a:r>
            <a:endParaRPr sz="3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65789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01/  </a:t>
            </a:r>
            <a:r>
              <a:t>기존 논문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연구 질문과 목적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기존 논문의 중심 질문</a:t>
            </a:r>
            <a:endParaRPr b="1"/>
          </a:p>
          <a:p xmlns:a="http://schemas.openxmlformats.org/drawingml/2006/main">
            <a:pPr lvl="1">
              <a:buNone/>
            </a:pPr>
            <a:r>
              <a:t>• 동일한 참여자·피부 부위에서 5개 sampling system이 미생물군 결과를 바꾸는가?</a:t>
            </a:r>
            <a:endParaRPr/>
          </a:p>
          <a:p xmlns:a="http://schemas.openxmlformats.org/drawingml/2006/main">
            <a:pPr lvl="1">
              <a:buNone/>
            </a:pPr>
            <a:r>
              <a:t/>
            </a:r>
            <a:endParaRPr/>
          </a:p>
          <a:p xmlns:a="http://schemas.openxmlformats.org/drawingml/2006/main">
            <a:r>
              <a:rPr b="1"/>
              <a:t>연구 설계</a:t>
            </a:r>
            <a:endParaRPr b="1"/>
          </a:p>
          <a:p xmlns:a="http://schemas.openxmlformats.org/drawingml/2006/main">
            <a:pPr lvl="1">
              <a:buNone/>
            </a:pPr>
            <a:r>
              <a:t>• 건강한 성인 5명, forehead와 antecubital fossa</a:t>
            </a:r>
            <a:endParaRPr/>
          </a:p>
          <a:p xmlns:a="http://schemas.openxmlformats.org/drawingml/2006/main">
            <a:pPr lvl="1">
              <a:buNone/>
            </a:pPr>
            <a:r>
              <a:t>• 5개 integrated swab–medium system, biological sample 50개, air control 5개</a:t>
            </a:r>
            <a:endParaRPr/>
          </a:p>
          <a:p xmlns:a="http://schemas.openxmlformats.org/drawingml/2006/main">
            <a:r>
              <a:rPr b="1"/>
              <a:t>• 16S rRNA V1–V3 기반 community comparison</a:t>
            </a:r>
            <a:endParaRPr b="1"/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>이번 재분석의 질문</a:t>
            </a:r>
          </a:p>
          <a:p xmlns:a="http://schemas.openxmlformats.org/drawingml/2006/main">
            <a:pPr lvl="1">
              <a:buNone/>
            </a:pPr>
            <a:r>
              <a:t>• 저생물량 피부 시료에서 decontamination과 rare-feature filtering 후에도 본 결론이 유지되는가?</a:t>
            </a:r>
          </a:p>
        </p:txBody>
      </p:sp>
    </p:spTree>
    <p:extLst>
      <p:ext uri="{BB962C8B-B14F-4D97-AF65-F5344CB8AC3E}">
        <p14:creationId xmlns:p14="http://schemas.microsoft.com/office/powerpoint/2010/main" val="369709458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01/  </a:t>
            </a:r>
            <a:r>
              <a:t>기존 논문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결과: sampling system보다 참여자와 부위의 영향이 더 큼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66700" y="1104900"/>
            <a:ext cx="2952750" cy="32385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• Sampling system: weighted UniFrac PERMANOVA R²=0.0248, p=0.796</a:t>
            </a:r>
            <a:endParaRPr/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2">
              <a:buNone/>
            </a:pPr>
            <a:r>
              <a:rPr i="1"/>
              <a:t>• Participant identity: R²=0.437, p&lt;0.001</a:t>
            </a:r>
            <a:endParaRPr i="1"/>
          </a:p>
          <a:p xmlns:a="http://schemas.openxmlformats.org/drawingml/2006/main">
            <a:pPr lvl="2">
              <a:buNone/>
            </a:pPr>
            <a:r>
              <a:t/>
            </a:r>
            <a:endParaRPr/>
          </a:p>
          <a:p xmlns:a="http://schemas.openxmlformats.org/drawingml/2006/main">
            <a:pPr lvl="1">
              <a:buNone/>
            </a:pPr>
            <a:r>
              <a:t>• Anatomical site: R²=0.269, p&lt;0.001</a:t>
            </a:r>
          </a:p>
          <a:p xmlns:a="http://schemas.openxmlformats.org/drawingml/2006/main">
            <a:pPr lvl="2">
              <a:buNone/>
            </a:pPr>
            <a:r>
              <a:rPr i="1"/>
              <a:t/>
            </a:r>
            <a:endParaRPr i="1"/>
          </a:p>
          <a:p xmlns:a="http://schemas.openxmlformats.org/drawingml/2006/main">
            <a:pPr lvl="1">
              <a:buNone/>
            </a:pPr>
            <a:r>
              <a:t>→ 주 결론: 다섯 system은 전체 community 구조를 크게 바꾸지 않았고, 실제 선택은 채취 편의성과 운영성에 근거할 수 있음.</a:t>
            </a:r>
            <a:endParaRPr/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382ee4eecb45d5"/>
          <a:stretch xmlns:a="http://schemas.openxmlformats.org/drawingml/2006/main"/>
        </p:blipFill>
        <p:spPr>
          <a:xfrm xmlns:a="http://schemas.openxmlformats.org/drawingml/2006/main">
            <a:off x="4562195" y="1009650"/>
            <a:ext cx="3067610" cy="3476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54581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01/  </a:t>
            </a:r>
            <a:r>
              <a:t>기존 논문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기존 분석의 한계: 저생물량 시료에서는 전처리 가정이 결과 해석에 영향을 줄 수 있음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/>
              <a:t>• 피부 swab은 low-biomass 시료이므로 contamination과 희귀 ASV 처리에 민감할 수 있음</a:t>
            </a:r>
          </a:p>
          <a:p xmlns:a="http://schemas.openxmlformats.org/drawingml/2006/main">
            <a:pPr lvl="1">
              <a:buNone/>
            </a:pPr>
            <a:r>
              <a:rPr sz="1200"/>
              <a:t/>
            </a:r>
            <a:endParaRPr sz="1200" b="1"/>
          </a:p>
          <a:p xmlns:a="http://schemas.openxmlformats.org/drawingml/2006/main">
            <a:pPr lvl="2">
              <a:buNone/>
            </a:pPr>
            <a:r>
              <a:rPr sz="1100" b="1">
                <a:solidFill>
                  <a:srgbClr val="1C33D7"/>
                </a:solidFill>
              </a:rPr>
              <a:t>• 기존 분석은 air control을 포함했지만, decontam threshold와 feature filtering에 따른 결론의 안정성을 체계적으로 제시하지 않았음</a:t>
            </a:r>
          </a:p>
          <a:p xmlns:a="http://schemas.openxmlformats.org/drawingml/2006/main">
            <a:pPr lvl="2">
              <a:buNone/>
            </a:pPr>
            <a:r>
              <a:rPr sz="1100" b="1">
                <a:solidFill>
                  <a:srgbClr val="1C33D7"/>
                </a:solidFill>
              </a:rPr>
              <a:t/>
            </a:r>
          </a:p>
          <a:p xmlns:a="http://schemas.openxmlformats.org/drawingml/2006/main">
            <a:pPr lvl="2">
              <a:buNone/>
            </a:pPr>
            <a:r>
              <a:rPr sz="1100" b="1">
                <a:solidFill>
                  <a:srgbClr val="1C33D7"/>
                </a:solidFill>
              </a:rPr>
              <a:t>• 따라서 재분석의 목적은 기존 결론을 바꾸는 것이 아니라, sampling-system 비교가 합리적인 전처리 조건에서 유지되는지 검증하는 것</a:t>
            </a:r>
          </a:p>
          <a:p xmlns:a="http://schemas.openxmlformats.org/drawingml/2006/main">
            <a:pPr lvl="2">
              <a:buNone/>
            </a:pPr>
            <a:r>
              <a:rPr sz="1100" b="1">
                <a:solidFill>
                  <a:srgbClr val="1C33D7"/>
                </a:solidFill>
              </a:rPr>
              <a:t/>
            </a:r>
            <a:endParaRPr sz="1100" b="1">
              <a:solidFill>
                <a:srgbClr val="1C33D7"/>
              </a:solidFill>
            </a:endParaRPr>
          </a:p>
          <a:p xmlns:a="http://schemas.openxmlformats.org/drawingml/2006/main">
            <a:pPr lvl="2">
              <a:buNone/>
            </a:pPr>
            <a:r>
              <a:rPr sz="1100">
                <a:solidFill>
                  <a:srgbClr val="1C33D7"/>
                </a:solidFill>
              </a:rPr>
              <a:t>• 핵심 원칙: 같은 phylogenetic tree, rarefaction depth 5,876, seed 42, permutation 9,999회를 고정</a:t>
            </a:r>
          </a:p>
        </p:txBody>
      </p:sp>
    </p:spTree>
    <p:extLst>
      <p:ext uri="{BB962C8B-B14F-4D97-AF65-F5344CB8AC3E}">
        <p14:creationId xmlns:p14="http://schemas.microsoft.com/office/powerpoint/2010/main" val="262252109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02/ </a:t>
            </a:r>
            <a:r>
              <a:t>선행 연구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추가 강점: 5-system 반복측정 + 전처리 안정성</a:t>
            </a:r>
            <a:endParaRPr/>
          </a:p>
        </p:txBody>
      </p:sp>
      <p:graphicFrame>
        <p:nvGraphicFramePr>
          <p:cNvPr id="16" name="내용 개체 틀 1"/>
          <p:cNvGraphicFramePr/>
          <p:nvPr/>
        </p:nvGraphicFramePr>
        <p:xfrm>
          <a:off xmlns:a="http://schemas.openxmlformats.org/drawingml/2006/main" x="228600" y="885825"/>
          <a:ext xmlns:a="http://schemas.openxmlformats.org/drawingml/2006/main" cx="8686800" cy="741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{5677EC35-DC63-4FD0-B777-EF276876572E}</a:tableStyleId>
              </a:tblPr>
              <a:tblGrid>
                <a:gridCol w="1737360"/>
                <a:gridCol w="1737360"/>
                <a:gridCol w="1737360"/>
                <a:gridCol w="1737360"/>
                <a:gridCol w="1737360"/>
              </a:tblGrid>
              <a:tr h="370840">
                <a:tc>
                  <a:txBody>
                    <a:bodyPr/>
                    <a:lstStyle/>
                    <a:p>
                      <a:r>
                        <a:rPr sz="900" b="1"/>
                        <a:t>연구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목적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설계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주요 분석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/>
                        <a:t>본 연구와의 차이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D9E2F3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sz="788"/>
                        <a:t>Bjerre et al. 2019</a:t>
                      </a:r>
                      <a:endParaRPr/>
                    </a:p>
                    <a:p>
                      <a:r>
                        <a:rPr sz="788"/>
                        <a:t>Bay et al. 2021</a:t>
                      </a:r>
                      <a:endParaRPr/>
                    </a:p>
                    <a:p>
                      <a:r>
                        <a:rPr sz="788"/>
                        <a:t>본 연구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/>
                        <a:t>채취·추출·보관 조건의 영향</a:t>
                      </a:r>
                      <a:endParaRPr/>
                    </a:p>
                    <a:p>
                      <a:r>
                        <a:rPr sz="788"/>
                        <a:t>피부 sampling 조건 비교</a:t>
                      </a:r>
                      <a:endParaRPr/>
                    </a:p>
                    <a:p>
                      <a:r>
                        <a:rPr sz="788"/>
                        <a:t>5개 swab–medium system 비교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/>
                        <a:t>2–4 조건 또는 collection–storage 비교</a:t>
                      </a:r>
                      <a:endParaRPr/>
                    </a:p>
                    <a:p>
                      <a:r>
                        <a:rPr sz="788"/>
                        <a:t>반복측정·2 피부 부위·5 system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/>
                        <a:t>16S 기반 alpha/beta diversity 및 PERMANOVA</a:t>
                      </a:r>
                      <a:endParaRPr/>
                    </a:p>
                    <a:p>
                      <a:r>
                        <a:rPr sz="788"/>
                        <a:t>Decontam threshold·9개 filter·5개 거리 지표 sensitivity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788"/>
                        <a:t>기존: 조건 비교 중심</a:t>
                      </a:r>
                      <a:endParaRPr/>
                    </a:p>
                    <a:p>
                      <a:r>
                        <a:rPr sz="788"/>
                        <a:t>본 연구: system 효과를 participant·site 효과와 직접 비교하고, 저생물량 전처리 후 결론의 안정성을 검증</a:t>
                      </a:r>
                      <a:endParaRPr/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193421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03/  </a:t>
            </a:r>
            <a:r>
              <a:t>재분석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Decontam 0.5: data 보존과 control read 감소의 균형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66700" y="1066800"/>
            <a:ext cx="3238500" cy="3333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Threshold 0.1–0.5: biological sample 50개 유지</a:t>
            </a:r>
          </a:p>
          <a:p xmlns:a="http://schemas.openxmlformats.org/drawingml/2006/main">
            <a:r>
              <a:t>Threshold 0.5: contaminant ASV 107개 제거, biological reads 91.6% 유지</a:t>
            </a:r>
          </a:p>
          <a:p xmlns:a="http://schemas.openxmlformats.org/drawingml/2006/main">
            <a:r>
              <a:t>Threshold 0.5: control reads는 24.3%만 유지</a:t>
            </a:r>
          </a:p>
          <a:p xmlns:a="http://schemas.openxmlformats.org/drawingml/2006/main">
            <a:r>
              <a:t>Threshold ≥0.6: 17개 이상 sample이 rarefaction depth 미달</a:t>
            </a:r>
          </a:p>
          <a:p xmlns:a="http://schemas.openxmlformats.org/drawingml/2006/main">
            <a:r>
              <a:t>0.5는 “정답”이 아니라, sample loss를 피하면서 control-associated signal을 줄이는 최종 조건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783c3ea02145d6"/>
          <a:stretch xmlns:a="http://schemas.openxmlformats.org/drawingml/2006/main"/>
        </p:blipFill>
        <p:spPr>
          <a:xfrm xmlns:a="http://schemas.openxmlformats.org/drawingml/2006/main">
            <a:off x="4423172" y="1066800"/>
            <a:ext cx="3536156" cy="3143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75260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03/  </a:t>
            </a:r>
            <a:r>
              <a:t>재분석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보수적 희귀 feature 제거: singleton만 primary analysis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66700" y="1066800"/>
            <a:ext cx="3238500" cy="3333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Singleton 제거: ASV 75개 감소, reads 99.99% 유지, 50개 sample 유지</a:t>
            </a:r>
          </a:p>
          <a:p xmlns:a="http://schemas.openxmlformats.org/drawingml/2006/main">
            <a:r>
              <a:t>Prevalence ≥2 또는 ≥5, mean abundance ≥0.1%: 일부 sample이 rarefaction에서 제외</a:t>
            </a:r>
          </a:p>
          <a:p xmlns:a="http://schemas.openxmlformats.org/drawingml/2006/main">
            <a:r>
              <a:t>Mean abundance ≥1%: 13개 sample이 depth 미달</a:t>
            </a:r>
          </a:p>
          <a:p xmlns:a="http://schemas.openxmlformats.org/drawingml/2006/main">
            <a:r>
              <a:t>Primary analysis: decontam 0.5 + singleton removal</a:t>
            </a:r>
          </a:p>
          <a:p xmlns:a="http://schemas.openxmlformats.org/drawingml/2006/main">
            <a:r>
              <a:t>모든 추가 filter 결과는 sensitivity analysis로 Supplementary에 제시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bbe5d14f5405b"/>
          <a:stretch xmlns:a="http://schemas.openxmlformats.org/drawingml/2006/main"/>
        </p:blipFill>
        <p:spPr>
          <a:xfrm xmlns:a="http://schemas.openxmlformats.org/drawingml/2006/main">
            <a:off x="3667125" y="1605828"/>
            <a:ext cx="5048250" cy="20651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720483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03/  </a:t>
            </a:r>
            <a:r>
              <a:t>재분석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최종 결론: 전처리를 보강해도 중심 메시지는 유지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66700" y="1066800"/>
            <a:ext cx="3238500" cy="333375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합리적 조건에서 sampling-system 효과는 participant·site 효과보다 작음</a:t>
            </a:r>
          </a:p>
          <a:p xmlns:a="http://schemas.openxmlformats.org/drawingml/2006/main">
            <a:r>
              <a:t>거리 지표와 강한 prevalence/abundance filtering에 따라 효과크기는 달라질 수 있음</a:t>
            </a:r>
          </a:p>
          <a:p xmlns:a="http://schemas.openxmlformats.org/drawingml/2006/main">
            <a:r>
              <a:t>따라서 “system 간 완전한 동등성”이 아니라 “conclusion stability를 확인한 within-subject comparison”으로 기술</a:t>
            </a:r>
          </a:p>
          <a:p xmlns:a="http://schemas.openxmlformats.org/drawingml/2006/main">
            <a:r>
              <a:t>논문 기여: preprocessing 선택이 결론을 인위적으로 만들지 않았음을 검증하는 재현 가능한 framework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95738a9714bce"/>
          <a:stretch xmlns:a="http://schemas.openxmlformats.org/drawingml/2006/main"/>
        </p:blipFill>
        <p:spPr>
          <a:xfrm xmlns:a="http://schemas.openxmlformats.org/drawingml/2006/main">
            <a:off x="3667125" y="1376363"/>
            <a:ext cx="5048250" cy="2524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58548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04/  </a:t>
            </a:r>
            <a:r>
              <a:t>논문 수정 방향과 투고 전략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논문 보강안: 본문은 간결하게, sensitivity는 Supplementary로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266700" y="1047750"/>
            <a:ext cx="4953000" cy="34766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현재 상태</a:t>
            </a:r>
            <a:endParaRPr/>
          </a:p>
          <a:p xmlns:a="http://schemas.openxmlformats.org/drawingml/2006/main">
            <a:pPr lvl="1">
              <a:buNone/>
            </a:pPr>
            <a:r>
              <a:t>재분석 완료, 논문 본문과 Supplementary 작성 중</a:t>
            </a:r>
          </a:p>
          <a:p xmlns:a="http://schemas.openxmlformats.org/drawingml/2006/main">
            <a:pPr lvl="2">
              <a:buNone/>
            </a:pPr>
            <a:r>
              <a:t>본문에 추가</a:t>
            </a:r>
            <a:endParaRPr/>
          </a:p>
          <a:p xmlns:a="http://schemas.openxmlformats.org/drawingml/2006/main">
            <a:pPr lvl="1">
              <a:buNone/>
            </a:pPr>
            <a:r>
              <a:t>Methods: decontam v1.30.0, threshold 0.5 선택 근거</a:t>
            </a:r>
            <a:endParaRPr/>
          </a:p>
          <a:p xmlns:a="http://schemas.openxmlformats.org/drawingml/2006/main">
            <a:pPr lvl="1">
              <a:buNone/>
            </a:pPr>
            <a:r>
              <a:t>Results: reasonable preprocessing conditions에서 결론 유지</a:t>
            </a:r>
            <a:endParaRPr/>
          </a:p>
          <a:p xmlns:a="http://schemas.openxmlformats.org/drawingml/2006/main">
            <a:r>
              <a:t>Supplementary에 추가</a:t>
            </a:r>
            <a:endParaRPr/>
          </a:p>
          <a:p xmlns:a="http://schemas.openxmlformats.org/drawingml/2006/main">
            <a:pPr lvl="1">
              <a:buNone/>
            </a:pPr>
            <a:r>
              <a:t>Threshold 0.1–0.9, 9개 filter, 전체 PERMANOVA/PERMDISP</a:t>
            </a:r>
          </a:p>
          <a:p xmlns:a="http://schemas.openxmlformats.org/drawingml/2006/main">
            <a:pPr lvl="1">
              <a:buNone/>
            </a:pPr>
            <a:r>
              <a:t>핵심: sampling-system comparison이 주제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43a055c554469b"/>
          <a:stretch xmlns:a="http://schemas.openxmlformats.org/drawingml/2006/main"/>
        </p:blipFill>
        <p:spPr>
          <a:xfrm xmlns:a="http://schemas.openxmlformats.org/drawingml/2006/main">
            <a:off x="6219825" y="1428750"/>
            <a:ext cx="1752600" cy="2190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276471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19824883-D173-4E8F-9980-A37850A7128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7C8DE6E-3A00-40EF-A5DD-DF90EE145C4A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04/  </a:t>
            </a:r>
            <a:r>
              <a:t>논문 수정 방향과 투고 전략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0746CE3F-53F2-4221-99D7-47D08BACBF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투고 전략: 방법론적 타당성 평가 저널 우선</a:t>
            </a:r>
            <a:endParaRPr/>
          </a:p>
        </p:txBody>
      </p:sp>
      <p:sp>
        <p:nvSpPr>
          <p:cNvPr id="9" name="내용 개체 틀 8">
            <a:extLst xmlns:a="http://schemas.openxmlformats.org/drawingml/2006/main">
              <a:ext uri="{FF2B5EF4-FFF2-40B4-BE49-F238E27FC236}">
                <a16:creationId xmlns:a16="http://schemas.microsoft.com/office/drawing/2014/main" id="{EDA2F870-E8D7-4D03-B892-74A6A72C493F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1순위  Microbiology Spectrum (ASM, IF 3.8)</a:t>
            </a:r>
          </a:p>
          <a:p xmlns:a="http://schemas.openxmlformats.org/drawingml/2006/main">
            <a:pPr lvl="1">
              <a:buNone/>
            </a:pPr>
            <a:r>
              <a:t>• methodology, replication, negative results 및 technically robust datasets를 명시적으로 수용</a:t>
            </a:r>
            <a:endParaRPr/>
          </a:p>
          <a:p xmlns:a="http://schemas.openxmlformats.org/drawingml/2006/main">
            <a:pPr lvl="1">
              <a:buNone/>
            </a:pPr>
            <a:r>
              <a:t/>
            </a:r>
            <a:endParaRPr/>
          </a:p>
          <a:p xmlns:a="http://schemas.openxmlformats.org/drawingml/2006/main">
            <a:pPr lvl="1">
              <a:buNone/>
            </a:pPr>
            <a:r>
              <a:t>2순위  MicrobiologyOpen (IF 3.6)</a:t>
            </a:r>
            <a:endParaRPr/>
          </a:p>
          <a:p xmlns:a="http://schemas.openxmlformats.org/drawingml/2006/main">
            <a:r>
              <a:rPr b="1"/>
              <a:t>• broad-scope microbiology, confirmatory research 수용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pPr lvl="1">
              <a:buNone/>
            </a:pPr>
            <a:r>
              <a:t>3순위  Journal of Microbiology and Biotechnology</a:t>
            </a:r>
            <a:endParaRPr/>
          </a:p>
          <a:p xmlns:a="http://schemas.openxmlformats.org/drawingml/2006/main">
            <a:r>
              <a:t>• 국내 미생물학·생명공학 학회 국제 저널; 최근 IF 약 3점대는 투고 직전 JCR 재확인</a:t>
            </a:r>
          </a:p>
          <a:p xmlns:a="http://schemas.openxmlformats.org/drawingml/2006/main">
            <a:pPr lvl="1">
              <a:buNone/>
            </a:pPr>
            <a:r>
              <a:t/>
            </a:r>
          </a:p>
          <a:p xmlns:a="http://schemas.openxmlformats.org/drawingml/2006/main">
            <a:r>
              <a:t>조건부  Frontiers in Microbiomes (IF 3.0)</a:t>
            </a:r>
            <a:endParaRPr/>
          </a:p>
          <a:p xmlns:a="http://schemas.openxmlformats.org/drawingml/2006/main">
            <a:r>
              <a:rPr b="1"/>
              <a:t>• 주제 적합성은 높지만 단순 observational survey 배제 가능성</a:t>
            </a:r>
            <a:endParaRPr b="1"/>
          </a:p>
          <a:p xmlns:a="http://schemas.openxmlformats.org/drawingml/2006/main">
            <a:pPr lvl="1">
              <a:buNone/>
            </a:pPr>
            <a:r>
              <a:t/>
            </a:r>
            <a:endParaRPr/>
          </a:p>
          <a:p xmlns:a="http://schemas.openxmlformats.org/drawingml/2006/main">
            <a:pPr lvl="1">
              <a:buNone/>
            </a:pPr>
            <a:r>
              <a:t>권장 framing: “five-system comparison with low-biomass preprocessing robustness validation”</a:t>
            </a:r>
          </a:p>
        </p:txBody>
      </p:sp>
    </p:spTree>
    <p:extLst>
      <p:ext uri="{BB962C8B-B14F-4D97-AF65-F5344CB8AC3E}">
        <p14:creationId xmlns:p14="http://schemas.microsoft.com/office/powerpoint/2010/main" val="3976529600"/>
      </p:ext>
    </p:extLst>
  </p:cSld>
</p:sld>
</file>

<file path=ppt/theme/theme1.xml><?xml version="1.0" encoding="utf-8"?>
<a:theme xmlns:a="http://schemas.openxmlformats.org/drawingml/2006/main" name="디자인 사용자 지정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2026-08-25T03:00:17.3260000Z</dcterms:created>
  <dcterms:modified xsi:type="dcterms:W3CDTF">2026-08-25T03:00:17.3260000Z</dcterms:modified>
</coreProperties>
</file>